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embeddedFontLst>
    <p:embeddedFont>
      <p:font typeface="Be Vietnam Pro" pitchFamily="34" charset="0"/>
      <p:regular r:id="rId18"/>
      <p:bold r:id="rId19"/>
    </p:embeddedFont>
    <p:embeddedFont>
      <p:font typeface="JetBrains Mono" panose="02000009000000000000" pitchFamily="49" charset="0"/>
      <p:regular r:id="rId20"/>
      <p:bold r:id="rId2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font" Target="fonts/font1.fntdata"/><Relationship Id="rId19" Type="http://schemas.openxmlformats.org/officeDocument/2006/relationships/font" Target="fonts/font2.fntdata"/><Relationship Id="rId20" Type="http://schemas.openxmlformats.org/officeDocument/2006/relationships/font" Target="fonts/font3.fntdata"/><Relationship Id="rId21"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covers data and security. FitLens handles video of people exercising, their body measurements and their health conditions, so data protection is a core design decision, not an add-on. I will show where each piece of data goes, how sensitive it is, and the controls that keep it private.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rules drive everything that follows. First, the most sensitive data, the camera feed, the 33 body keypoints and the user's voice, is processed on the phone and thrown away; our server could not receive it even by mistake. Second, our own rules engine decides the plan, the reps and the calories. The LLM only explains those results, and it only ever sees pseudonymized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it left to right. Each grey column is a trust zone. Inside the phone, the green dashed box holds what never leaves: camera frames, the pose model and voice. Only summary numbers cross into our backend, and everything must pass the API gateway, which checks HTTPS and the login token. The backend validates input, runs a rule-based safety filter, and the rules engine reads and writes only the user's own rows. Health data sits in its own table. The only data that leaves our system goes through the pseudonymizer to the LLM, and generic reminder text goes through the push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sort every piece of data into five levels. L0 never leaves the phone. L1 is public reference data. L2 is personal data that only the owner can read. L3 is health data: conditions, injuries and pain reports. It lives in its own table, needs a separate consent checkbox, and is never sent to the LLM as written. Finally, credentials and metadata: we store only password hashes, and logs contain a user UUID, never content. Vietnam's new data protection law treats health data as sensitive, which is why L3 gets its own consent.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Onboarding. At sign-up we store only a password hash, and tokens live in the phone's secure storage. The consent screen has a separate checkbox for health data. In the assessment we keep the birth year, not the birth date, and conditions go into a separate table as tags. The camera fitness test is counted on the phone and only the score is sent. Then the rules engine builds the plan; the LLM writes the explanation but cannot change the exercises, which matters for users with injuries.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Daily use. During a workout the camera frames go through the pose model in memory and are discarded; after each set only numbers go to the server. The pain button works on the phone even without a connection. For meals, users type or dictate with the phone's own voice typing, so we never handle audio. We strip contact details before the LLM estimates calories, and our rules reject impossible values. Reminders are mostly scheduled on the phone itself, and any push message stays generic because it appears on the lock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Sunday a job aggregates the week and our rules adjust the plan: a little harder after a strong week, lighter after a pain report. The LLM only sees the totals. The streak is computed on the server, so it cannot be cheated by changing the phone's clock. Finally, the user's rights under the data protection law: they can withdraw health consent, export everything as JSON, or delete the account. Deletion cascades through every table, and because backups expire after seven days, the data also disappears from backups.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only place personal data leaves our system, so this checkpoint matters most. On the left is what we store for a user with a back injury. On the right is exactly what the LLM receives: an age band instead of a birth year, a BMI band instead of weight, and a restriction tag instead of the diagnosis. No name, no email, no user ID. The LLM is told to explain the plan, not change it, and we validate whatever comes back. We also keep the API key on the server, because a key inside a mobile app can be extracted.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eight controls follow our team's security guide for small apps: enough protection without overengineering. All traffic uses HTTPS and the database is not reachable from the internet. The app talks only to our backend, and every query is filtered by the logged-in user's ID, which prevents one user from reading another's data. The backend uses a limited database account. We use parameterized queries, keep secrets out of the code and the app, log no personal content, and keep encrypted backups that expire after a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database we compared free online services. Supabase fits best: it is Postgres, so weekly statistics are simple SQL, and it includes authentication with password hashing. Its main limit is that free projects pause after a week without activity. Turso is our second option: it has the most free storage, but we would need a separate login service. Our data is small, about half a megabyte per user per year, so storage is not the constraint for a course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decisions are still open for the team, and each would change the diagram. Food photos would add a new path across the boundary. Suggested menus would bring in allergy data, which is health data. Native app versus PWA decides where tokens are stored and how push works. We also need a minimum age, an LLM plan whose terms do not allow training on our data, and a retention period. Thank you; I'm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3F6F5"/>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61"/>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14201C"/>
                </a:solidFill>
                <a:latin typeface="Be Vietnam Pro" pitchFamily="34" charset="0"/>
                <a:ea typeface="Be Vietnam Pro" pitchFamily="34" charset="-122"/>
                <a:cs typeface="Be Vietnam Pro"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9601"/>
            <a:ext cx="10566400" cy="4165599"/>
          </a:xfrm>
          <a:prstGeom prst="rect">
            <a:avLst/>
          </a:prstGeom>
          <a:noFill/>
          <a:ln/>
        </p:spPr>
        <p:txBody>
          <a:bodyPr wrap="square" lIns="0" tIns="0" rIns="0" bIns="0" rtlCol="0" anchor="t"/>
          <a:lstStyle>
            <a:lvl1pPr algn="l" indent="0" marL="0">
              <a:lnSpc>
                <a:spcPct val="140000"/>
              </a:lnSpc>
              <a:buNone/>
              <a:defRPr lang="en-US" sz="1600" dirty="0">
                <a:solidFill>
                  <a:srgbClr val="14201C"/>
                </a:solidFill>
                <a:latin typeface="Be Vietnam Pro" pitchFamily="34" charset="0"/>
                <a:ea typeface="Be Vietnam Pro" pitchFamily="34" charset="-122"/>
                <a:cs typeface="Be Vietnam Pro"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F6F5"/>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61"/>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14201C"/>
                </a:solidFill>
                <a:latin typeface="Be Vietnam Pro" pitchFamily="34" charset="0"/>
                <a:ea typeface="Be Vietnam Pro" pitchFamily="34" charset="-122"/>
                <a:cs typeface="Be Vietnam Pro"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9601"/>
            <a:ext cx="10566400" cy="4165599"/>
          </a:xfrm>
          <a:prstGeom prst="rect">
            <a:avLst/>
          </a:prstGeom>
          <a:noFill/>
          <a:ln/>
        </p:spPr>
        <p:txBody>
          <a:bodyPr wrap="square" lIns="0" tIns="0" rIns="0" bIns="0" rtlCol="0" anchor="t"/>
          <a:lstStyle>
            <a:lvl1pPr algn="l" indent="0" marL="0">
              <a:lnSpc>
                <a:spcPct val="140000"/>
              </a:lnSpc>
              <a:buNone/>
              <a:defRPr lang="en-US" sz="1600" dirty="0">
                <a:solidFill>
                  <a:srgbClr val="14201C"/>
                </a:solidFill>
                <a:latin typeface="Be Vietnam Pro" pitchFamily="34" charset="0"/>
                <a:ea typeface="Be Vietnam Pro" pitchFamily="34" charset="-122"/>
                <a:cs typeface="Be Vietnam Pro"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image" Target="../media/image-3-12.png"/><Relationship Id="rId13" Type="http://schemas.openxmlformats.org/officeDocument/2006/relationships/image" Target="../media/image-3-13.png"/><Relationship Id="rId14" Type="http://schemas.openxmlformats.org/officeDocument/2006/relationships/slideLayout" Target="../slideLayouts/slideLayout2.xml"/><Relationship Id="rId1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2.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01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8A5C"/>
                </a:solidFill>
                <a:latin typeface="JetBrains Mono" pitchFamily="49" charset="0"/>
                <a:ea typeface="JetBrains Mono" pitchFamily="49" charset="-122"/>
                <a:cs typeface="JetBrains Mono" pitchFamily="49" charset="-120"/>
              </a:rPr>
              <a:t>FITLENS · DATA &amp; SECURITY</a:t>
            </a:r>
            <a:endParaRPr lang="en-US" sz="1200" dirty="0"/>
          </a:p>
        </p:txBody>
      </p:sp>
      <p:sp>
        <p:nvSpPr>
          <p:cNvPr id="3" name="Text 1"/>
          <p:cNvSpPr/>
          <p:nvPr>
            <p:ph type="title"/>
          </p:nvPr>
        </p:nvSpPr>
        <p:spPr>
          <a:xfrm>
            <a:off x="812800" y="2425700"/>
            <a:ext cx="10883392" cy="1518920"/>
          </a:xfrm>
          <a:prstGeom prst="rect">
            <a:avLst/>
          </a:prstGeom>
          <a:noFill/>
          <a:ln/>
        </p:spPr>
        <p:txBody>
          <a:bodyPr wrap="square" lIns="0" tIns="0" rIns="0" bIns="0" rtlCol="0" anchor="t">
            <a:normAutofit/>
          </a:bodyPr>
          <a:lstStyle/>
          <a:p>
            <a:pPr algn="l" indent="0" marL="0">
              <a:lnSpc>
                <a:spcPts val="5880"/>
              </a:lnSpc>
              <a:buNone/>
            </a:pPr>
            <a:r>
              <a:rPr lang="en-US" sz="5600" b="1" i="0" spc="-100" kern="0" dirty="0">
                <a:solidFill>
                  <a:srgbClr val="F3F6F5"/>
                </a:solidFill>
                <a:latin typeface="Be Vietnam Pro" pitchFamily="34" charset="0"/>
                <a:ea typeface="Be Vietnam Pro" pitchFamily="34" charset="-122"/>
                <a:cs typeface="Be Vietnam Pro" pitchFamily="34" charset="-120"/>
              </a:rPr>
              <a:t>Where user data goes, and where it </a:t>
            </a:r>
            <a:r>
              <a:rPr lang="en-US" sz="5600" b="1" i="0" spc="-100" kern="0" dirty="0">
                <a:solidFill>
                  <a:srgbClr val="FF8A5C"/>
                </a:solidFill>
                <a:latin typeface="Be Vietnam Pro" pitchFamily="34" charset="0"/>
                <a:ea typeface="Be Vietnam Pro" pitchFamily="34" charset="-122"/>
                <a:cs typeface="Be Vietnam Pro" pitchFamily="34" charset="-120"/>
              </a:rPr>
              <a:t>never</a:t>
            </a:r>
            <a:r>
              <a:rPr lang="en-US" sz="5600" b="1" i="0" spc="-100" kern="0" dirty="0">
                <a:solidFill>
                  <a:srgbClr val="F3F6F5"/>
                </a:solidFill>
                <a:latin typeface="Be Vietnam Pro" pitchFamily="34" charset="0"/>
                <a:ea typeface="Be Vietnam Pro" pitchFamily="34" charset="-122"/>
                <a:cs typeface="Be Vietnam Pro" pitchFamily="34" charset="-120"/>
              </a:rPr>
              <a:t> goes</a:t>
            </a:r>
            <a:endParaRPr lang="en-US" sz="5600" dirty="0"/>
          </a:p>
        </p:txBody>
      </p:sp>
      <p:sp>
        <p:nvSpPr>
          <p:cNvPr id="4" name="Text 2"/>
          <p:cNvSpPr/>
          <p:nvPr/>
        </p:nvSpPr>
        <p:spPr>
          <a:xfrm>
            <a:off x="812800" y="4147820"/>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9C8C2"/>
                </a:solidFill>
                <a:latin typeface="Be Vietnam Pro" pitchFamily="34" charset="0"/>
                <a:ea typeface="Be Vietnam Pro" pitchFamily="34" charset="-122"/>
                <a:cs typeface="Be Vietnam Pro" pitchFamily="34" charset="-120"/>
              </a:rPr>
              <a:t>Data flow, sensitivity levels and privacy controls for the FitLens workout app</a:t>
            </a:r>
            <a:endParaRPr lang="en-US" sz="1600" dirty="0"/>
          </a:p>
        </p:txBody>
      </p:sp>
      <p:sp>
        <p:nvSpPr>
          <p:cNvPr id="5" name="Text 3"/>
          <p:cNvSpPr/>
          <p:nvPr/>
        </p:nvSpPr>
        <p:spPr>
          <a:xfrm>
            <a:off x="812800" y="583184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3A39D"/>
                </a:solidFill>
                <a:latin typeface="JetBrains Mono" pitchFamily="49" charset="0"/>
                <a:ea typeface="JetBrains Mono" pitchFamily="49" charset="-122"/>
                <a:cs typeface="JetBrains Mono" pitchFamily="49" charset="-120"/>
              </a:rPr>
              <a:t>Group_01 · CS252</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B83A1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D9C9"/>
                </a:solidFill>
                <a:latin typeface="JetBrains Mono" pitchFamily="49" charset="0"/>
                <a:ea typeface="JetBrains Mono" pitchFamily="49" charset="-122"/>
                <a:cs typeface="JetBrains Mono" pitchFamily="49" charset="-120"/>
              </a:rPr>
              <a:t>TWO RULES BEHIND EVERY DATA DECISION</a:t>
            </a:r>
            <a:endParaRPr lang="en-US" sz="1200" dirty="0"/>
          </a:p>
        </p:txBody>
      </p:sp>
      <p:sp>
        <p:nvSpPr>
          <p:cNvPr id="3" name="Text 1"/>
          <p:cNvSpPr/>
          <p:nvPr/>
        </p:nvSpPr>
        <p:spPr>
          <a:xfrm>
            <a:off x="812800" y="3388360"/>
            <a:ext cx="5127752"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FFD9C9"/>
                </a:solidFill>
                <a:latin typeface="JetBrains Mono" pitchFamily="49" charset="0"/>
                <a:ea typeface="JetBrains Mono" pitchFamily="49" charset="-122"/>
                <a:cs typeface="JetBrains Mono" pitchFamily="49" charset="-120"/>
              </a:rPr>
              <a:t>1</a:t>
            </a:r>
            <a:endParaRPr lang="en-US" sz="4800" dirty="0"/>
          </a:p>
        </p:txBody>
      </p:sp>
      <p:sp>
        <p:nvSpPr>
          <p:cNvPr id="4" name="Text 2"/>
          <p:cNvSpPr/>
          <p:nvPr/>
        </p:nvSpPr>
        <p:spPr>
          <a:xfrm>
            <a:off x="812800" y="4175760"/>
            <a:ext cx="5127752" cy="784860"/>
          </a:xfrm>
          <a:prstGeom prst="rect">
            <a:avLst/>
          </a:prstGeom>
          <a:noFill/>
          <a:ln/>
        </p:spPr>
        <p:txBody>
          <a:bodyPr wrap="square" lIns="0" tIns="0" rIns="0" bIns="0" rtlCol="0" anchor="t">
            <a:normAutofit/>
          </a:bodyPr>
          <a:lstStyle/>
          <a:p>
            <a:pPr algn="l" indent="0" marL="0">
              <a:lnSpc>
                <a:spcPts val="2990"/>
              </a:lnSpc>
              <a:buNone/>
            </a:pPr>
            <a:r>
              <a:rPr lang="en-US" sz="2600" b="1" dirty="0">
                <a:solidFill>
                  <a:srgbClr val="FFFAF7"/>
                </a:solidFill>
                <a:latin typeface="Be Vietnam Pro" pitchFamily="34" charset="0"/>
                <a:ea typeface="Be Vietnam Pro" pitchFamily="34" charset="-122"/>
                <a:cs typeface="Be Vietnam Pro" pitchFamily="34" charset="-120"/>
              </a:rPr>
              <a:t>Video, body keypoints and voice never leave the phone.</a:t>
            </a:r>
            <a:endParaRPr lang="en-US" sz="2600" dirty="0"/>
          </a:p>
        </p:txBody>
      </p:sp>
      <p:sp>
        <p:nvSpPr>
          <p:cNvPr id="5" name="Text 3"/>
          <p:cNvSpPr/>
          <p:nvPr/>
        </p:nvSpPr>
        <p:spPr>
          <a:xfrm>
            <a:off x="812800" y="5113020"/>
            <a:ext cx="5127752"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FBE3D9"/>
                </a:solidFill>
                <a:latin typeface="Be Vietnam Pro" pitchFamily="34" charset="0"/>
                <a:ea typeface="Be Vietnam Pro" pitchFamily="34" charset="-122"/>
                <a:cs typeface="Be Vietnam Pro" pitchFamily="34" charset="-120"/>
              </a:rPr>
              <a:t>Pose detection and voice typing run on the device. The backend has no endpoint that accepts an image, a video or audio.</a:t>
            </a:r>
            <a:endParaRPr lang="en-US" sz="1500" dirty="0"/>
          </a:p>
        </p:txBody>
      </p:sp>
      <p:sp>
        <p:nvSpPr>
          <p:cNvPr id="6" name="Text 4"/>
          <p:cNvSpPr/>
          <p:nvPr/>
        </p:nvSpPr>
        <p:spPr>
          <a:xfrm>
            <a:off x="6400800" y="3388360"/>
            <a:ext cx="5127752"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FFD9C9"/>
                </a:solidFill>
                <a:latin typeface="JetBrains Mono" pitchFamily="49" charset="0"/>
                <a:ea typeface="JetBrains Mono" pitchFamily="49" charset="-122"/>
                <a:cs typeface="JetBrains Mono" pitchFamily="49" charset="-120"/>
              </a:rPr>
              <a:t>2</a:t>
            </a:r>
            <a:endParaRPr lang="en-US" sz="4800" dirty="0"/>
          </a:p>
        </p:txBody>
      </p:sp>
      <p:sp>
        <p:nvSpPr>
          <p:cNvPr id="7" name="Text 5"/>
          <p:cNvSpPr/>
          <p:nvPr/>
        </p:nvSpPr>
        <p:spPr>
          <a:xfrm>
            <a:off x="6400800" y="4175760"/>
            <a:ext cx="5127752" cy="1164590"/>
          </a:xfrm>
          <a:prstGeom prst="rect">
            <a:avLst/>
          </a:prstGeom>
          <a:noFill/>
          <a:ln/>
        </p:spPr>
        <p:txBody>
          <a:bodyPr wrap="square" lIns="0" tIns="0" rIns="0" bIns="0" rtlCol="0" anchor="t">
            <a:normAutofit/>
          </a:bodyPr>
          <a:lstStyle/>
          <a:p>
            <a:pPr algn="l" indent="0" marL="0">
              <a:lnSpc>
                <a:spcPts val="2990"/>
              </a:lnSpc>
              <a:buNone/>
            </a:pPr>
            <a:r>
              <a:rPr lang="en-US" sz="2600" b="1" dirty="0">
                <a:solidFill>
                  <a:srgbClr val="FFFAF7"/>
                </a:solidFill>
                <a:latin typeface="Be Vietnam Pro" pitchFamily="34" charset="0"/>
                <a:ea typeface="Be Vietnam Pro" pitchFamily="34" charset="-122"/>
                <a:cs typeface="Be Vietnam Pro" pitchFamily="34" charset="-120"/>
              </a:rPr>
              <a:t>Rules decide the facts. The LLM only puts them into words.</a:t>
            </a:r>
            <a:endParaRPr lang="en-US" sz="2600" dirty="0"/>
          </a:p>
        </p:txBody>
      </p:sp>
      <p:sp>
        <p:nvSpPr>
          <p:cNvPr id="8" name="Text 6"/>
          <p:cNvSpPr/>
          <p:nvPr/>
        </p:nvSpPr>
        <p:spPr>
          <a:xfrm>
            <a:off x="6400800" y="5492750"/>
            <a:ext cx="5127752"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FBE3D9"/>
                </a:solidFill>
                <a:latin typeface="Be Vietnam Pro" pitchFamily="34" charset="0"/>
                <a:ea typeface="Be Vietnam Pro" pitchFamily="34" charset="-122"/>
                <a:cs typeface="Be Vietnam Pro" pitchFamily="34" charset="-120"/>
              </a:rPr>
              <a:t>It receives pseudonymized numbers and tags: no name, no email, no user ID, no diagnosis.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6F5"/>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3A15"/>
                </a:solidFill>
                <a:latin typeface="JetBrains Mono" pitchFamily="49" charset="0"/>
                <a:ea typeface="JetBrains Mono" pitchFamily="49" charset="-122"/>
                <a:cs typeface="JetBrains Mono" pitchFamily="49" charset="-120"/>
              </a:rPr>
              <a:t>DATA FLOW</a:t>
            </a:r>
            <a:endParaRPr lang="en-US" sz="1200" dirty="0"/>
          </a:p>
        </p:txBody>
      </p:sp>
      <p:sp>
        <p:nvSpPr>
          <p:cNvPr id="3" name="Text 1"/>
          <p:cNvSpPr/>
          <p:nvPr>
            <p:ph type="title"/>
          </p:nvPr>
        </p:nvSpPr>
        <p:spPr>
          <a:xfrm>
            <a:off x="812800" y="889000"/>
            <a:ext cx="10883392" cy="9194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01C"/>
                </a:solidFill>
                <a:latin typeface="Be Vietnam Pro" pitchFamily="34" charset="0"/>
                <a:ea typeface="Be Vietnam Pro" pitchFamily="34" charset="-122"/>
                <a:cs typeface="Be Vietnam Pro" pitchFamily="34" charset="-120"/>
              </a:rPr>
              <a:t>Data crosses four trust zones, only along labelled paths</a:t>
            </a:r>
            <a:endParaRPr lang="en-US" sz="3200" dirty="0"/>
          </a:p>
        </p:txBody>
      </p:sp>
      <p:sp>
        <p:nvSpPr>
          <p:cNvPr id="4" name="Shape 2"/>
          <p:cNvSpPr/>
          <p:nvPr/>
        </p:nvSpPr>
        <p:spPr>
          <a:xfrm>
            <a:off x="812800" y="1905000"/>
            <a:ext cx="2667000" cy="4064000"/>
          </a:xfrm>
          <a:prstGeom prst="roundRect">
            <a:avLst>
              <a:gd name="adj" fmla="val 4762"/>
            </a:avLst>
          </a:prstGeom>
          <a:solidFill>
            <a:srgbClr val="E4EBE8"/>
          </a:solidFill>
          <a:ln/>
        </p:spPr>
      </p:sp>
      <p:sp>
        <p:nvSpPr>
          <p:cNvPr id="5" name="Text 3"/>
          <p:cNvSpPr/>
          <p:nvPr/>
        </p:nvSpPr>
        <p:spPr>
          <a:xfrm>
            <a:off x="965200" y="1981200"/>
            <a:ext cx="2485390" cy="23876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4E5D57"/>
                </a:solidFill>
                <a:latin typeface="JetBrains Mono" pitchFamily="49" charset="0"/>
                <a:ea typeface="JetBrains Mono" pitchFamily="49" charset="-122"/>
                <a:cs typeface="JetBrains Mono" pitchFamily="49" charset="-120"/>
              </a:rPr>
              <a:t>USER'S PHONE</a:t>
            </a:r>
            <a:endParaRPr lang="en-US" sz="1200" dirty="0"/>
          </a:p>
        </p:txBody>
      </p:sp>
      <p:sp>
        <p:nvSpPr>
          <p:cNvPr id="6" name="Shape 4"/>
          <p:cNvSpPr/>
          <p:nvPr/>
        </p:nvSpPr>
        <p:spPr>
          <a:xfrm>
            <a:off x="923925" y="2295525"/>
            <a:ext cx="2444750" cy="1581150"/>
          </a:xfrm>
          <a:prstGeom prst="roundRect">
            <a:avLst>
              <a:gd name="adj" fmla="val 5020"/>
            </a:avLst>
          </a:prstGeom>
          <a:noFill/>
          <a:ln w="19050">
            <a:solidFill>
              <a:srgbClr val="0A7A5B"/>
            </a:solidFill>
            <a:prstDash val="dash"/>
          </a:ln>
        </p:spPr>
      </p:sp>
      <p:sp>
        <p:nvSpPr>
          <p:cNvPr id="7" name="Text 5"/>
          <p:cNvSpPr/>
          <p:nvPr/>
        </p:nvSpPr>
        <p:spPr>
          <a:xfrm>
            <a:off x="1016000" y="2349500"/>
            <a:ext cx="23545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7A5B"/>
                </a:solidFill>
                <a:latin typeface="JetBrains Mono" pitchFamily="49" charset="0"/>
                <a:ea typeface="JetBrains Mono" pitchFamily="49" charset="-122"/>
                <a:cs typeface="JetBrains Mono" pitchFamily="49" charset="-120"/>
              </a:rPr>
              <a:t>NEVER LEAVES</a:t>
            </a:r>
            <a:endParaRPr lang="en-US" sz="1200" dirty="0"/>
          </a:p>
        </p:txBody>
      </p:sp>
      <p:sp>
        <p:nvSpPr>
          <p:cNvPr id="8" name="Shape 6"/>
          <p:cNvSpPr/>
          <p:nvPr/>
        </p:nvSpPr>
        <p:spPr>
          <a:xfrm>
            <a:off x="1019175" y="2619375"/>
            <a:ext cx="2254250" cy="552450"/>
          </a:xfrm>
          <a:prstGeom prst="roundRect">
            <a:avLst>
              <a:gd name="adj" fmla="val 13218"/>
            </a:avLst>
          </a:prstGeom>
          <a:solidFill>
            <a:srgbClr val="FBFCFB"/>
          </a:solidFill>
          <a:ln w="6350">
            <a:solidFill>
              <a:srgbClr val="C3CFCA"/>
            </a:solidFill>
            <a:prstDash val="solid"/>
          </a:ln>
        </p:spPr>
      </p:sp>
      <p:sp>
        <p:nvSpPr>
          <p:cNvPr id="9" name="Text 7"/>
          <p:cNvSpPr/>
          <p:nvPr/>
        </p:nvSpPr>
        <p:spPr>
          <a:xfrm>
            <a:off x="1148080" y="2697480"/>
            <a:ext cx="2056333"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4201C"/>
                </a:solidFill>
                <a:latin typeface="Be Vietnam Pro" pitchFamily="34" charset="0"/>
                <a:ea typeface="Be Vietnam Pro" pitchFamily="34" charset="-122"/>
                <a:cs typeface="Be Vietnam Pro" pitchFamily="34" charset="-120"/>
              </a:rPr>
              <a:t>Camera + pose model</a:t>
            </a:r>
            <a:endParaRPr lang="en-US" sz="1200" dirty="0"/>
          </a:p>
        </p:txBody>
      </p:sp>
      <p:sp>
        <p:nvSpPr>
          <p:cNvPr id="10" name="Text 8"/>
          <p:cNvSpPr/>
          <p:nvPr/>
        </p:nvSpPr>
        <p:spPr>
          <a:xfrm>
            <a:off x="1148080" y="2895600"/>
            <a:ext cx="2056333"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E5D57"/>
                </a:solidFill>
                <a:latin typeface="Be Vietnam Pro" pitchFamily="34" charset="0"/>
                <a:ea typeface="Be Vietnam Pro" pitchFamily="34" charset="-122"/>
                <a:cs typeface="Be Vietnam Pro" pitchFamily="34" charset="-120"/>
              </a:rPr>
              <a:t>frames stay in RAM</a:t>
            </a:r>
            <a:endParaRPr lang="en-US" sz="1200" dirty="0"/>
          </a:p>
        </p:txBody>
      </p:sp>
      <p:sp>
        <p:nvSpPr>
          <p:cNvPr id="11" name="Shape 9"/>
          <p:cNvSpPr/>
          <p:nvPr/>
        </p:nvSpPr>
        <p:spPr>
          <a:xfrm>
            <a:off x="1019175" y="3241675"/>
            <a:ext cx="2254250" cy="552450"/>
          </a:xfrm>
          <a:prstGeom prst="roundRect">
            <a:avLst>
              <a:gd name="adj" fmla="val 13218"/>
            </a:avLst>
          </a:prstGeom>
          <a:solidFill>
            <a:srgbClr val="FBFCFB"/>
          </a:solidFill>
          <a:ln w="6350">
            <a:solidFill>
              <a:srgbClr val="C3CFCA"/>
            </a:solidFill>
            <a:prstDash val="solid"/>
          </a:ln>
        </p:spPr>
      </p:sp>
      <p:sp>
        <p:nvSpPr>
          <p:cNvPr id="12" name="Text 10"/>
          <p:cNvSpPr/>
          <p:nvPr/>
        </p:nvSpPr>
        <p:spPr>
          <a:xfrm>
            <a:off x="1148080" y="3319780"/>
            <a:ext cx="2056333"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4201C"/>
                </a:solidFill>
                <a:latin typeface="Be Vietnam Pro" pitchFamily="34" charset="0"/>
                <a:ea typeface="Be Vietnam Pro" pitchFamily="34" charset="-122"/>
                <a:cs typeface="Be Vietnam Pro" pitchFamily="34" charset="-120"/>
              </a:rPr>
              <a:t>Voice dictation</a:t>
            </a:r>
            <a:endParaRPr lang="en-US" sz="1200" dirty="0"/>
          </a:p>
        </p:txBody>
      </p:sp>
      <p:sp>
        <p:nvSpPr>
          <p:cNvPr id="13" name="Text 11"/>
          <p:cNvSpPr/>
          <p:nvPr/>
        </p:nvSpPr>
        <p:spPr>
          <a:xfrm>
            <a:off x="1148080" y="3517900"/>
            <a:ext cx="2056333"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E5D57"/>
                </a:solidFill>
                <a:latin typeface="Be Vietnam Pro" pitchFamily="34" charset="0"/>
                <a:ea typeface="Be Vietnam Pro" pitchFamily="34" charset="-122"/>
                <a:cs typeface="Be Vietnam Pro" pitchFamily="34" charset="-120"/>
              </a:rPr>
              <a:t>audio never kept</a:t>
            </a:r>
            <a:endParaRPr lang="en-US" sz="1200" dirty="0"/>
          </a:p>
        </p:txBody>
      </p:sp>
      <p:sp>
        <p:nvSpPr>
          <p:cNvPr id="14" name="Shape 12"/>
          <p:cNvSpPr/>
          <p:nvPr/>
        </p:nvSpPr>
        <p:spPr>
          <a:xfrm>
            <a:off x="1019175" y="4016375"/>
            <a:ext cx="2254250" cy="552450"/>
          </a:xfrm>
          <a:prstGeom prst="roundRect">
            <a:avLst>
              <a:gd name="adj" fmla="val 13218"/>
            </a:avLst>
          </a:prstGeom>
          <a:solidFill>
            <a:srgbClr val="FBFCFB"/>
          </a:solidFill>
          <a:ln w="6350">
            <a:solidFill>
              <a:srgbClr val="C3CFCA"/>
            </a:solidFill>
            <a:prstDash val="solid"/>
          </a:ln>
        </p:spPr>
      </p:sp>
      <p:sp>
        <p:nvSpPr>
          <p:cNvPr id="15" name="Text 13"/>
          <p:cNvSpPr/>
          <p:nvPr/>
        </p:nvSpPr>
        <p:spPr>
          <a:xfrm>
            <a:off x="1148080" y="4094480"/>
            <a:ext cx="2056333"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4201C"/>
                </a:solidFill>
                <a:latin typeface="Be Vietnam Pro" pitchFamily="34" charset="0"/>
                <a:ea typeface="Be Vietnam Pro" pitchFamily="34" charset="-122"/>
                <a:cs typeface="Be Vietnam Pro" pitchFamily="34" charset="-120"/>
              </a:rPr>
              <a:t>App screens</a:t>
            </a:r>
            <a:endParaRPr lang="en-US" sz="1200" dirty="0"/>
          </a:p>
        </p:txBody>
      </p:sp>
      <p:sp>
        <p:nvSpPr>
          <p:cNvPr id="16" name="Text 14"/>
          <p:cNvSpPr/>
          <p:nvPr/>
        </p:nvSpPr>
        <p:spPr>
          <a:xfrm>
            <a:off x="1148080" y="4292600"/>
            <a:ext cx="2056333"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E5D57"/>
                </a:solidFill>
                <a:latin typeface="Be Vietnam Pro" pitchFamily="34" charset="0"/>
                <a:ea typeface="Be Vietnam Pro" pitchFamily="34" charset="-122"/>
                <a:cs typeface="Be Vietnam Pro" pitchFamily="34" charset="-120"/>
              </a:rPr>
              <a:t>forms · chat · meals</a:t>
            </a:r>
            <a:endParaRPr lang="en-US" sz="1200" dirty="0"/>
          </a:p>
        </p:txBody>
      </p:sp>
      <p:sp>
        <p:nvSpPr>
          <p:cNvPr id="17" name="Shape 15"/>
          <p:cNvSpPr/>
          <p:nvPr/>
        </p:nvSpPr>
        <p:spPr>
          <a:xfrm>
            <a:off x="1019175" y="4676775"/>
            <a:ext cx="2254250" cy="552450"/>
          </a:xfrm>
          <a:prstGeom prst="roundRect">
            <a:avLst>
              <a:gd name="adj" fmla="val 13218"/>
            </a:avLst>
          </a:prstGeom>
          <a:solidFill>
            <a:srgbClr val="FBFCFB"/>
          </a:solidFill>
          <a:ln w="6350">
            <a:solidFill>
              <a:srgbClr val="C3CFCA"/>
            </a:solidFill>
            <a:prstDash val="solid"/>
          </a:ln>
        </p:spPr>
      </p:sp>
      <p:sp>
        <p:nvSpPr>
          <p:cNvPr id="18" name="Text 16"/>
          <p:cNvSpPr/>
          <p:nvPr/>
        </p:nvSpPr>
        <p:spPr>
          <a:xfrm>
            <a:off x="1148080" y="4754880"/>
            <a:ext cx="2056333"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4201C"/>
                </a:solidFill>
                <a:latin typeface="Be Vietnam Pro" pitchFamily="34" charset="0"/>
                <a:ea typeface="Be Vietnam Pro" pitchFamily="34" charset="-122"/>
                <a:cs typeface="Be Vietnam Pro" pitchFamily="34" charset="-120"/>
              </a:rPr>
              <a:t>Keychain / Keystore</a:t>
            </a:r>
            <a:endParaRPr lang="en-US" sz="1200" dirty="0"/>
          </a:p>
        </p:txBody>
      </p:sp>
      <p:sp>
        <p:nvSpPr>
          <p:cNvPr id="19" name="Text 17"/>
          <p:cNvSpPr/>
          <p:nvPr/>
        </p:nvSpPr>
        <p:spPr>
          <a:xfrm>
            <a:off x="1148080" y="4953000"/>
            <a:ext cx="2056333"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E5D57"/>
                </a:solidFill>
                <a:latin typeface="Be Vietnam Pro" pitchFamily="34" charset="0"/>
                <a:ea typeface="Be Vietnam Pro" pitchFamily="34" charset="-122"/>
                <a:cs typeface="Be Vietnam Pro" pitchFamily="34" charset="-120"/>
              </a:rPr>
              <a:t>tokens · cached plan</a:t>
            </a:r>
            <a:endParaRPr lang="en-US" sz="1200" dirty="0"/>
          </a:p>
        </p:txBody>
      </p:sp>
      <p:sp>
        <p:nvSpPr>
          <p:cNvPr id="20" name="Shape 18"/>
          <p:cNvSpPr/>
          <p:nvPr/>
        </p:nvSpPr>
        <p:spPr>
          <a:xfrm>
            <a:off x="1019175" y="5337175"/>
            <a:ext cx="2254250" cy="552450"/>
          </a:xfrm>
          <a:prstGeom prst="roundRect">
            <a:avLst>
              <a:gd name="adj" fmla="val 13218"/>
            </a:avLst>
          </a:prstGeom>
          <a:solidFill>
            <a:srgbClr val="FBFCFB"/>
          </a:solidFill>
          <a:ln w="6350">
            <a:solidFill>
              <a:srgbClr val="C3CFCA"/>
            </a:solidFill>
            <a:prstDash val="solid"/>
          </a:ln>
        </p:spPr>
      </p:sp>
      <p:sp>
        <p:nvSpPr>
          <p:cNvPr id="21" name="Text 19"/>
          <p:cNvSpPr/>
          <p:nvPr/>
        </p:nvSpPr>
        <p:spPr>
          <a:xfrm>
            <a:off x="1148080" y="5415280"/>
            <a:ext cx="2056333"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4201C"/>
                </a:solidFill>
                <a:latin typeface="Be Vietnam Pro" pitchFamily="34" charset="0"/>
                <a:ea typeface="Be Vietnam Pro" pitchFamily="34" charset="-122"/>
                <a:cs typeface="Be Vietnam Pro" pitchFamily="34" charset="-120"/>
              </a:rPr>
              <a:t>Notification tray</a:t>
            </a:r>
            <a:endParaRPr lang="en-US" sz="1200" dirty="0"/>
          </a:p>
        </p:txBody>
      </p:sp>
      <p:sp>
        <p:nvSpPr>
          <p:cNvPr id="22" name="Text 20"/>
          <p:cNvSpPr/>
          <p:nvPr/>
        </p:nvSpPr>
        <p:spPr>
          <a:xfrm>
            <a:off x="1148080" y="5613400"/>
            <a:ext cx="2056333"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E5D57"/>
                </a:solidFill>
                <a:latin typeface="Be Vietnam Pro" pitchFamily="34" charset="0"/>
                <a:ea typeface="Be Vietnam Pro" pitchFamily="34" charset="-122"/>
                <a:cs typeface="Be Vietnam Pro" pitchFamily="34" charset="-120"/>
              </a:rPr>
              <a:t>lock-screen visible</a:t>
            </a:r>
            <a:endParaRPr lang="en-US" sz="1200" dirty="0"/>
          </a:p>
        </p:txBody>
      </p:sp>
      <p:sp>
        <p:nvSpPr>
          <p:cNvPr id="23" name="Text 21"/>
          <p:cNvSpPr/>
          <p:nvPr/>
        </p:nvSpPr>
        <p:spPr>
          <a:xfrm>
            <a:off x="3479800" y="2641600"/>
            <a:ext cx="1320800" cy="215900"/>
          </a:xfrm>
          <a:prstGeom prst="rect">
            <a:avLst/>
          </a:prstGeom>
          <a:noFill/>
          <a:ln/>
        </p:spPr>
        <p:txBody>
          <a:bodyPr wrap="square" lIns="0" tIns="0" rIns="0" bIns="0" rtlCol="0" anchor="t">
            <a:normAutofit/>
          </a:bodyPr>
          <a:lstStyle/>
          <a:p>
            <a:pPr algn="ctr" indent="0" marL="0">
              <a:lnSpc>
                <a:spcPts val="1500"/>
              </a:lnSpc>
              <a:buNone/>
            </a:pPr>
            <a:r>
              <a:rPr lang="en-US" sz="1200" b="1" dirty="0">
                <a:solidFill>
                  <a:srgbClr val="0A7A5B"/>
                </a:solidFill>
                <a:latin typeface="Be Vietnam Pro" pitchFamily="34" charset="0"/>
                <a:ea typeface="Be Vietnam Pro" pitchFamily="34" charset="-122"/>
                <a:cs typeface="Be Vietnam Pro" pitchFamily="34" charset="-120"/>
              </a:rPr>
              <a:t>numbers only</a:t>
            </a:r>
            <a:endParaRPr lang="en-US" sz="1200" dirty="0"/>
          </a:p>
        </p:txBody>
      </p:sp>
      <p:pic>
        <p:nvPicPr>
          <p:cNvPr id="24" name="Image 0" descr="connector">    </p:cNvPr>
          <p:cNvPicPr>
            <a:picLocks noChangeAspect="1"/>
          </p:cNvPicPr>
          <p:nvPr/>
        </p:nvPicPr>
        <p:blipFill>
          <a:blip r:embed="rId1"/>
          <a:srcRect l="0" r="0" t="0" b="0"/>
          <a:stretch/>
        </p:blipFill>
        <p:spPr>
          <a:xfrm>
            <a:off x="3238500" y="2857500"/>
            <a:ext cx="1600200" cy="101600"/>
          </a:xfrm>
          <a:prstGeom prst="rect">
            <a:avLst/>
          </a:prstGeom>
        </p:spPr>
      </p:pic>
      <p:sp>
        <p:nvSpPr>
          <p:cNvPr id="25" name="Text 22"/>
          <p:cNvSpPr/>
          <p:nvPr/>
        </p:nvSpPr>
        <p:spPr>
          <a:xfrm>
            <a:off x="3479800" y="3848100"/>
            <a:ext cx="1320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4E5D57"/>
                </a:solidFill>
                <a:latin typeface="Be Vietnam Pro" pitchFamily="34" charset="0"/>
                <a:ea typeface="Be Vietnam Pro" pitchFamily="34" charset="-122"/>
                <a:cs typeface="Be Vietnam Pro" pitchFamily="34" charset="-120"/>
              </a:rPr>
              <a:t>profile, meal text</a:t>
            </a:r>
            <a:endParaRPr lang="en-US" sz="1200" dirty="0"/>
          </a:p>
        </p:txBody>
      </p:sp>
      <p:pic>
        <p:nvPicPr>
          <p:cNvPr id="26" name="Image 1" descr="connector">    </p:cNvPr>
          <p:cNvPicPr>
            <a:picLocks noChangeAspect="1"/>
          </p:cNvPicPr>
          <p:nvPr/>
        </p:nvPicPr>
        <p:blipFill>
          <a:blip r:embed="rId2"/>
          <a:srcRect l="0" r="0" t="0" b="0"/>
          <a:stretch/>
        </p:blipFill>
        <p:spPr>
          <a:xfrm>
            <a:off x="3238500" y="4254500"/>
            <a:ext cx="1600200" cy="101600"/>
          </a:xfrm>
          <a:prstGeom prst="rect">
            <a:avLst/>
          </a:prstGeom>
        </p:spPr>
      </p:pic>
      <p:sp>
        <p:nvSpPr>
          <p:cNvPr id="27" name="Text 23"/>
          <p:cNvSpPr/>
          <p:nvPr/>
        </p:nvSpPr>
        <p:spPr>
          <a:xfrm>
            <a:off x="3479800" y="4699000"/>
            <a:ext cx="1320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4E5D57"/>
                </a:solidFill>
                <a:latin typeface="Be Vietnam Pro" pitchFamily="34" charset="0"/>
                <a:ea typeface="Be Vietnam Pro" pitchFamily="34" charset="-122"/>
                <a:cs typeface="Be Vietnam Pro" pitchFamily="34" charset="-120"/>
              </a:rPr>
              <a:t>tokens, plan</a:t>
            </a:r>
            <a:endParaRPr lang="en-US" sz="1200" dirty="0"/>
          </a:p>
        </p:txBody>
      </p:sp>
      <p:pic>
        <p:nvPicPr>
          <p:cNvPr id="28" name="Image 2" descr="connector">    </p:cNvPr>
          <p:cNvPicPr>
            <a:picLocks noChangeAspect="1"/>
          </p:cNvPicPr>
          <p:nvPr/>
        </p:nvPicPr>
        <p:blipFill>
          <a:blip r:embed="rId3"/>
          <a:srcRect l="0" r="0" t="0" b="0"/>
          <a:stretch/>
        </p:blipFill>
        <p:spPr>
          <a:xfrm>
            <a:off x="3238500" y="4914900"/>
            <a:ext cx="1600200" cy="101600"/>
          </a:xfrm>
          <a:prstGeom prst="rect">
            <a:avLst/>
          </a:prstGeom>
        </p:spPr>
      </p:pic>
      <p:sp>
        <p:nvSpPr>
          <p:cNvPr id="29" name="Shape 24"/>
          <p:cNvSpPr/>
          <p:nvPr/>
        </p:nvSpPr>
        <p:spPr>
          <a:xfrm>
            <a:off x="4800600" y="1905000"/>
            <a:ext cx="355600" cy="4064000"/>
          </a:xfrm>
          <a:prstGeom prst="roundRect">
            <a:avLst>
              <a:gd name="adj" fmla="val 21429"/>
            </a:avLst>
          </a:prstGeom>
          <a:solidFill>
            <a:srgbClr val="14201C"/>
          </a:solidFill>
          <a:ln/>
        </p:spPr>
      </p:sp>
      <p:sp>
        <p:nvSpPr>
          <p:cNvPr id="30" name="Text 25"/>
          <p:cNvSpPr/>
          <p:nvPr/>
        </p:nvSpPr>
        <p:spPr>
          <a:xfrm rot="16200000">
            <a:off x="2898140" y="3822422"/>
            <a:ext cx="4185920" cy="228600"/>
          </a:xfrm>
          <a:prstGeom prst="rect">
            <a:avLst/>
          </a:prstGeom>
          <a:noFill/>
          <a:ln/>
        </p:spPr>
        <p:txBody>
          <a:bodyPr wrap="square" lIns="0" tIns="0" rIns="0" bIns="0" rtlCol="0" anchor="t">
            <a:normAutofit/>
          </a:bodyPr>
          <a:lstStyle/>
          <a:p>
            <a:pPr algn="ctr" indent="0" marL="0">
              <a:lnSpc>
                <a:spcPts val="1596"/>
              </a:lnSpc>
              <a:buNone/>
            </a:pPr>
            <a:r>
              <a:rPr lang="en-US" sz="1200" b="1" spc="150" kern="0" dirty="0">
                <a:solidFill>
                  <a:srgbClr val="F3F6F5"/>
                </a:solidFill>
                <a:latin typeface="JetBrains Mono" pitchFamily="49" charset="0"/>
                <a:ea typeface="JetBrains Mono" pitchFamily="49" charset="-122"/>
                <a:cs typeface="JetBrains Mono" pitchFamily="49" charset="-120"/>
              </a:rPr>
              <a:t>API GATEWAY · HTTPS · JWT</a:t>
            </a:r>
            <a:endParaRPr lang="en-US" sz="1200" dirty="0"/>
          </a:p>
        </p:txBody>
      </p:sp>
      <p:sp>
        <p:nvSpPr>
          <p:cNvPr id="31" name="Shape 26"/>
          <p:cNvSpPr/>
          <p:nvPr/>
        </p:nvSpPr>
        <p:spPr>
          <a:xfrm>
            <a:off x="5283200" y="1905000"/>
            <a:ext cx="2667000" cy="4064000"/>
          </a:xfrm>
          <a:prstGeom prst="roundRect">
            <a:avLst>
              <a:gd name="adj" fmla="val 4762"/>
            </a:avLst>
          </a:prstGeom>
          <a:solidFill>
            <a:srgbClr val="E4EBE8"/>
          </a:solidFill>
          <a:ln/>
        </p:spPr>
      </p:sp>
      <p:sp>
        <p:nvSpPr>
          <p:cNvPr id="32" name="Text 27"/>
          <p:cNvSpPr/>
          <p:nvPr/>
        </p:nvSpPr>
        <p:spPr>
          <a:xfrm>
            <a:off x="5435600" y="1981200"/>
            <a:ext cx="2485390" cy="23876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4E5D57"/>
                </a:solidFill>
                <a:latin typeface="JetBrains Mono" pitchFamily="49" charset="0"/>
                <a:ea typeface="JetBrains Mono" pitchFamily="49" charset="-122"/>
                <a:cs typeface="JetBrains Mono" pitchFamily="49" charset="-120"/>
              </a:rPr>
              <a:t>FITLENS BACKEND</a:t>
            </a:r>
            <a:endParaRPr lang="en-US" sz="1200" dirty="0"/>
          </a:p>
        </p:txBody>
      </p:sp>
      <p:pic>
        <p:nvPicPr>
          <p:cNvPr id="33" name="Image 3" descr="connector">    </p:cNvPr>
          <p:cNvPicPr>
            <a:picLocks noChangeAspect="1"/>
          </p:cNvPicPr>
          <p:nvPr/>
        </p:nvPicPr>
        <p:blipFill>
          <a:blip r:embed="rId4"/>
          <a:srcRect l="0" r="0" t="0" b="0"/>
          <a:stretch/>
        </p:blipFill>
        <p:spPr>
          <a:xfrm>
            <a:off x="5105400" y="2546350"/>
            <a:ext cx="317500" cy="101600"/>
          </a:xfrm>
          <a:prstGeom prst="rect">
            <a:avLst/>
          </a:prstGeom>
        </p:spPr>
      </p:pic>
      <p:sp>
        <p:nvSpPr>
          <p:cNvPr id="34" name="Shape 28"/>
          <p:cNvSpPr/>
          <p:nvPr/>
        </p:nvSpPr>
        <p:spPr>
          <a:xfrm>
            <a:off x="5387975" y="2314575"/>
            <a:ext cx="2457450" cy="552450"/>
          </a:xfrm>
          <a:prstGeom prst="roundRect">
            <a:avLst>
              <a:gd name="adj" fmla="val 13218"/>
            </a:avLst>
          </a:prstGeom>
          <a:solidFill>
            <a:srgbClr val="FBFCFB"/>
          </a:solidFill>
          <a:ln w="6350">
            <a:solidFill>
              <a:srgbClr val="C3CFCA"/>
            </a:solidFill>
            <a:prstDash val="solid"/>
          </a:ln>
        </p:spPr>
      </p:sp>
      <p:sp>
        <p:nvSpPr>
          <p:cNvPr id="35" name="Text 29"/>
          <p:cNvSpPr/>
          <p:nvPr/>
        </p:nvSpPr>
        <p:spPr>
          <a:xfrm>
            <a:off x="5516880" y="2392680"/>
            <a:ext cx="2265629"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4201C"/>
                </a:solidFill>
                <a:latin typeface="Be Vietnam Pro" pitchFamily="34" charset="0"/>
                <a:ea typeface="Be Vietnam Pro" pitchFamily="34" charset="-122"/>
                <a:cs typeface="Be Vietnam Pro" pitchFamily="34" charset="-120"/>
              </a:rPr>
              <a:t>Validate &amp; sanitize</a:t>
            </a:r>
            <a:endParaRPr lang="en-US" sz="1200" dirty="0"/>
          </a:p>
        </p:txBody>
      </p:sp>
      <p:sp>
        <p:nvSpPr>
          <p:cNvPr id="36" name="Text 30"/>
          <p:cNvSpPr/>
          <p:nvPr/>
        </p:nvSpPr>
        <p:spPr>
          <a:xfrm>
            <a:off x="5516880" y="2590800"/>
            <a:ext cx="2265629"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E5D57"/>
                </a:solidFill>
                <a:latin typeface="Be Vietnam Pro" pitchFamily="34" charset="0"/>
                <a:ea typeface="Be Vietnam Pro" pitchFamily="34" charset="-122"/>
                <a:cs typeface="Be Vietnam Pro" pitchFamily="34" charset="-120"/>
              </a:rPr>
              <a:t>ranges · strip PII</a:t>
            </a:r>
            <a:endParaRPr lang="en-US" sz="1200" dirty="0"/>
          </a:p>
        </p:txBody>
      </p:sp>
      <p:sp>
        <p:nvSpPr>
          <p:cNvPr id="37" name="Shape 31"/>
          <p:cNvSpPr/>
          <p:nvPr/>
        </p:nvSpPr>
        <p:spPr>
          <a:xfrm>
            <a:off x="5387975" y="3051175"/>
            <a:ext cx="2457450" cy="552450"/>
          </a:xfrm>
          <a:prstGeom prst="roundRect">
            <a:avLst>
              <a:gd name="adj" fmla="val 13218"/>
            </a:avLst>
          </a:prstGeom>
          <a:solidFill>
            <a:srgbClr val="FBFCFB"/>
          </a:solidFill>
          <a:ln w="6350">
            <a:solidFill>
              <a:srgbClr val="C3CFCA"/>
            </a:solidFill>
            <a:prstDash val="solid"/>
          </a:ln>
        </p:spPr>
      </p:sp>
      <p:sp>
        <p:nvSpPr>
          <p:cNvPr id="38" name="Text 32"/>
          <p:cNvSpPr/>
          <p:nvPr/>
        </p:nvSpPr>
        <p:spPr>
          <a:xfrm>
            <a:off x="5516880" y="3129280"/>
            <a:ext cx="2265629"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4201C"/>
                </a:solidFill>
                <a:latin typeface="Be Vietnam Pro" pitchFamily="34" charset="0"/>
                <a:ea typeface="Be Vietnam Pro" pitchFamily="34" charset="-122"/>
                <a:cs typeface="Be Vietnam Pro" pitchFamily="34" charset="-120"/>
              </a:rPr>
              <a:t>Safety filter</a:t>
            </a:r>
            <a:endParaRPr lang="en-US" sz="1200" dirty="0"/>
          </a:p>
        </p:txBody>
      </p:sp>
      <p:sp>
        <p:nvSpPr>
          <p:cNvPr id="39" name="Text 33"/>
          <p:cNvSpPr/>
          <p:nvPr/>
        </p:nvSpPr>
        <p:spPr>
          <a:xfrm>
            <a:off x="5516880" y="3327400"/>
            <a:ext cx="2265629"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E5D57"/>
                </a:solidFill>
                <a:latin typeface="Be Vietnam Pro" pitchFamily="34" charset="0"/>
                <a:ea typeface="Be Vietnam Pro" pitchFamily="34" charset="-122"/>
                <a:cs typeface="Be Vietnam Pro" pitchFamily="34" charset="-120"/>
              </a:rPr>
              <a:t>rule-based pain stop</a:t>
            </a:r>
            <a:endParaRPr lang="en-US" sz="1200" dirty="0"/>
          </a:p>
        </p:txBody>
      </p:sp>
      <p:sp>
        <p:nvSpPr>
          <p:cNvPr id="40" name="Shape 34"/>
          <p:cNvSpPr/>
          <p:nvPr/>
        </p:nvSpPr>
        <p:spPr>
          <a:xfrm>
            <a:off x="5387975" y="3787775"/>
            <a:ext cx="2457450" cy="552450"/>
          </a:xfrm>
          <a:prstGeom prst="roundRect">
            <a:avLst>
              <a:gd name="adj" fmla="val 13218"/>
            </a:avLst>
          </a:prstGeom>
          <a:solidFill>
            <a:srgbClr val="FBFCFB"/>
          </a:solidFill>
          <a:ln w="6350">
            <a:solidFill>
              <a:srgbClr val="C3CFCA"/>
            </a:solidFill>
            <a:prstDash val="solid"/>
          </a:ln>
        </p:spPr>
      </p:sp>
      <p:sp>
        <p:nvSpPr>
          <p:cNvPr id="41" name="Text 35"/>
          <p:cNvSpPr/>
          <p:nvPr/>
        </p:nvSpPr>
        <p:spPr>
          <a:xfrm>
            <a:off x="5516880" y="3865880"/>
            <a:ext cx="2265629"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4201C"/>
                </a:solidFill>
                <a:latin typeface="Be Vietnam Pro" pitchFamily="34" charset="0"/>
                <a:ea typeface="Be Vietnam Pro" pitchFamily="34" charset="-122"/>
                <a:cs typeface="Be Vietnam Pro" pitchFamily="34" charset="-120"/>
              </a:rPr>
              <a:t>Rules engine</a:t>
            </a:r>
            <a:endParaRPr lang="en-US" sz="1200" dirty="0"/>
          </a:p>
        </p:txBody>
      </p:sp>
      <p:sp>
        <p:nvSpPr>
          <p:cNvPr id="42" name="Text 36"/>
          <p:cNvSpPr/>
          <p:nvPr/>
        </p:nvSpPr>
        <p:spPr>
          <a:xfrm>
            <a:off x="5516880" y="4064000"/>
            <a:ext cx="2265629"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E5D57"/>
                </a:solidFill>
                <a:latin typeface="Be Vietnam Pro" pitchFamily="34" charset="0"/>
                <a:ea typeface="Be Vietnam Pro" pitchFamily="34" charset="-122"/>
                <a:cs typeface="Be Vietnam Pro" pitchFamily="34" charset="-120"/>
              </a:rPr>
              <a:t>plan · kcal · streak</a:t>
            </a:r>
            <a:endParaRPr lang="en-US" sz="1200" dirty="0"/>
          </a:p>
        </p:txBody>
      </p:sp>
      <p:sp>
        <p:nvSpPr>
          <p:cNvPr id="43" name="Shape 37"/>
          <p:cNvSpPr/>
          <p:nvPr/>
        </p:nvSpPr>
        <p:spPr>
          <a:xfrm>
            <a:off x="5391150" y="4527550"/>
            <a:ext cx="2451100" cy="556260"/>
          </a:xfrm>
          <a:prstGeom prst="roundRect">
            <a:avLst>
              <a:gd name="adj" fmla="val 12557"/>
            </a:avLst>
          </a:prstGeom>
          <a:solidFill>
            <a:srgbClr val="FBFCFB"/>
          </a:solidFill>
          <a:ln w="12700">
            <a:solidFill>
              <a:srgbClr val="B83A15"/>
            </a:solidFill>
            <a:prstDash val="solid"/>
          </a:ln>
        </p:spPr>
      </p:sp>
      <p:sp>
        <p:nvSpPr>
          <p:cNvPr id="44" name="Text 38"/>
          <p:cNvSpPr/>
          <p:nvPr/>
        </p:nvSpPr>
        <p:spPr>
          <a:xfrm>
            <a:off x="5521960" y="4607561"/>
            <a:ext cx="2255165"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4201C"/>
                </a:solidFill>
                <a:latin typeface="Be Vietnam Pro" pitchFamily="34" charset="0"/>
                <a:ea typeface="Be Vietnam Pro" pitchFamily="34" charset="-122"/>
                <a:cs typeface="Be Vietnam Pro" pitchFamily="34" charset="-120"/>
              </a:rPr>
              <a:t>Pseudonymizer</a:t>
            </a:r>
            <a:endParaRPr lang="en-US" sz="1200" dirty="0"/>
          </a:p>
        </p:txBody>
      </p:sp>
      <p:sp>
        <p:nvSpPr>
          <p:cNvPr id="45" name="Text 39"/>
          <p:cNvSpPr/>
          <p:nvPr/>
        </p:nvSpPr>
        <p:spPr>
          <a:xfrm>
            <a:off x="5521960" y="4805680"/>
            <a:ext cx="2255165"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E5D57"/>
                </a:solidFill>
                <a:latin typeface="Be Vietnam Pro" pitchFamily="34" charset="0"/>
                <a:ea typeface="Be Vietnam Pro" pitchFamily="34" charset="-122"/>
                <a:cs typeface="Be Vietnam Pro" pitchFamily="34" charset="-120"/>
              </a:rPr>
              <a:t>no name, email, ID</a:t>
            </a:r>
            <a:endParaRPr lang="en-US" sz="1200" dirty="0"/>
          </a:p>
        </p:txBody>
      </p:sp>
      <p:sp>
        <p:nvSpPr>
          <p:cNvPr id="46" name="Shape 40"/>
          <p:cNvSpPr/>
          <p:nvPr/>
        </p:nvSpPr>
        <p:spPr>
          <a:xfrm>
            <a:off x="5387975" y="5260975"/>
            <a:ext cx="2457450" cy="552450"/>
          </a:xfrm>
          <a:prstGeom prst="roundRect">
            <a:avLst>
              <a:gd name="adj" fmla="val 13218"/>
            </a:avLst>
          </a:prstGeom>
          <a:solidFill>
            <a:srgbClr val="FBFCFB"/>
          </a:solidFill>
          <a:ln w="6350">
            <a:solidFill>
              <a:srgbClr val="C3CFCA"/>
            </a:solidFill>
            <a:prstDash val="solid"/>
          </a:ln>
        </p:spPr>
      </p:sp>
      <p:sp>
        <p:nvSpPr>
          <p:cNvPr id="47" name="Text 41"/>
          <p:cNvSpPr/>
          <p:nvPr/>
        </p:nvSpPr>
        <p:spPr>
          <a:xfrm>
            <a:off x="5516880" y="5339080"/>
            <a:ext cx="2265629"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4201C"/>
                </a:solidFill>
                <a:latin typeface="Be Vietnam Pro" pitchFamily="34" charset="0"/>
                <a:ea typeface="Be Vietnam Pro" pitchFamily="34" charset="-122"/>
                <a:cs typeface="Be Vietnam Pro" pitchFamily="34" charset="-120"/>
              </a:rPr>
              <a:t>Scheduler</a:t>
            </a:r>
            <a:endParaRPr lang="en-US" sz="1200" dirty="0"/>
          </a:p>
        </p:txBody>
      </p:sp>
      <p:sp>
        <p:nvSpPr>
          <p:cNvPr id="48" name="Text 42"/>
          <p:cNvSpPr/>
          <p:nvPr/>
        </p:nvSpPr>
        <p:spPr>
          <a:xfrm>
            <a:off x="5516880" y="5537200"/>
            <a:ext cx="2265629"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E5D57"/>
                </a:solidFill>
                <a:latin typeface="Be Vietnam Pro" pitchFamily="34" charset="0"/>
                <a:ea typeface="Be Vietnam Pro" pitchFamily="34" charset="-122"/>
                <a:cs typeface="Be Vietnam Pro" pitchFamily="34" charset="-120"/>
              </a:rPr>
              <a:t>reminders, weekly job</a:t>
            </a:r>
            <a:endParaRPr lang="en-US" sz="1200" dirty="0"/>
          </a:p>
        </p:txBody>
      </p:sp>
      <p:pic>
        <p:nvPicPr>
          <p:cNvPr id="49" name="Image 4" descr="connector">    </p:cNvPr>
          <p:cNvPicPr>
            <a:picLocks noChangeAspect="1"/>
          </p:cNvPicPr>
          <p:nvPr/>
        </p:nvPicPr>
        <p:blipFill>
          <a:blip r:embed="rId5"/>
          <a:srcRect l="0" r="0" t="0" b="0"/>
          <a:stretch/>
        </p:blipFill>
        <p:spPr>
          <a:xfrm>
            <a:off x="6565900" y="2844800"/>
            <a:ext cx="101600" cy="241300"/>
          </a:xfrm>
          <a:prstGeom prst="rect">
            <a:avLst/>
          </a:prstGeom>
        </p:spPr>
      </p:pic>
      <p:pic>
        <p:nvPicPr>
          <p:cNvPr id="50" name="Image 5" descr="connector">    </p:cNvPr>
          <p:cNvPicPr>
            <a:picLocks noChangeAspect="1"/>
          </p:cNvPicPr>
          <p:nvPr/>
        </p:nvPicPr>
        <p:blipFill>
          <a:blip r:embed="rId6"/>
          <a:srcRect l="0" r="0" t="0" b="0"/>
          <a:stretch/>
        </p:blipFill>
        <p:spPr>
          <a:xfrm>
            <a:off x="6565900" y="3581400"/>
            <a:ext cx="101600" cy="241300"/>
          </a:xfrm>
          <a:prstGeom prst="rect">
            <a:avLst/>
          </a:prstGeom>
        </p:spPr>
      </p:pic>
      <p:pic>
        <p:nvPicPr>
          <p:cNvPr id="51" name="Image 6" descr="connector">    </p:cNvPr>
          <p:cNvPicPr>
            <a:picLocks noChangeAspect="1"/>
          </p:cNvPicPr>
          <p:nvPr/>
        </p:nvPicPr>
        <p:blipFill>
          <a:blip r:embed="rId7"/>
          <a:srcRect l="0" r="0" t="0" b="0"/>
          <a:stretch/>
        </p:blipFill>
        <p:spPr>
          <a:xfrm>
            <a:off x="6565900" y="4318000"/>
            <a:ext cx="101600" cy="241300"/>
          </a:xfrm>
          <a:prstGeom prst="rect">
            <a:avLst/>
          </a:prstGeom>
        </p:spPr>
      </p:pic>
      <p:sp>
        <p:nvSpPr>
          <p:cNvPr id="52" name="Shape 43"/>
          <p:cNvSpPr/>
          <p:nvPr/>
        </p:nvSpPr>
        <p:spPr>
          <a:xfrm>
            <a:off x="9042400" y="1905000"/>
            <a:ext cx="2336800" cy="2413000"/>
          </a:xfrm>
          <a:prstGeom prst="roundRect">
            <a:avLst>
              <a:gd name="adj" fmla="val 5435"/>
            </a:avLst>
          </a:prstGeom>
          <a:solidFill>
            <a:srgbClr val="E4EBE8"/>
          </a:solidFill>
          <a:ln/>
        </p:spPr>
      </p:sp>
      <p:sp>
        <p:nvSpPr>
          <p:cNvPr id="53" name="Text 44"/>
          <p:cNvSpPr/>
          <p:nvPr/>
        </p:nvSpPr>
        <p:spPr>
          <a:xfrm>
            <a:off x="9194800" y="1981200"/>
            <a:ext cx="2158365" cy="23876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4E5D57"/>
                </a:solidFill>
                <a:latin typeface="JetBrains Mono" pitchFamily="49" charset="0"/>
                <a:ea typeface="JetBrains Mono" pitchFamily="49" charset="-122"/>
                <a:cs typeface="JetBrains Mono" pitchFamily="49" charset="-120"/>
              </a:rPr>
              <a:t>DATABASE</a:t>
            </a:r>
            <a:endParaRPr lang="en-US" sz="1200" dirty="0"/>
          </a:p>
        </p:txBody>
      </p:sp>
      <p:sp>
        <p:nvSpPr>
          <p:cNvPr id="54" name="Shape 45"/>
          <p:cNvSpPr/>
          <p:nvPr/>
        </p:nvSpPr>
        <p:spPr>
          <a:xfrm>
            <a:off x="9147175" y="2289175"/>
            <a:ext cx="2127250" cy="552450"/>
          </a:xfrm>
          <a:prstGeom prst="roundRect">
            <a:avLst>
              <a:gd name="adj" fmla="val 13218"/>
            </a:avLst>
          </a:prstGeom>
          <a:solidFill>
            <a:srgbClr val="FBFCFB"/>
          </a:solidFill>
          <a:ln w="6350">
            <a:solidFill>
              <a:srgbClr val="C3CFCA"/>
            </a:solidFill>
            <a:prstDash val="solid"/>
          </a:ln>
        </p:spPr>
      </p:sp>
      <p:sp>
        <p:nvSpPr>
          <p:cNvPr id="55" name="Text 46"/>
          <p:cNvSpPr/>
          <p:nvPr/>
        </p:nvSpPr>
        <p:spPr>
          <a:xfrm>
            <a:off x="9276080" y="2367280"/>
            <a:ext cx="1925523"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8F5C0B"/>
                </a:solidFill>
                <a:latin typeface="Be Vietnam Pro" pitchFamily="34" charset="0"/>
                <a:ea typeface="Be Vietnam Pro" pitchFamily="34" charset="-122"/>
                <a:cs typeface="Be Vietnam Pro" pitchFamily="34" charset="-120"/>
              </a:rPr>
              <a:t>auth.users</a:t>
            </a:r>
            <a:endParaRPr lang="en-US" sz="1200" dirty="0"/>
          </a:p>
        </p:txBody>
      </p:sp>
      <p:sp>
        <p:nvSpPr>
          <p:cNvPr id="56" name="Text 47"/>
          <p:cNvSpPr/>
          <p:nvPr/>
        </p:nvSpPr>
        <p:spPr>
          <a:xfrm>
            <a:off x="9276080" y="2565400"/>
            <a:ext cx="1925523"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E5D57"/>
                </a:solidFill>
                <a:latin typeface="Be Vietnam Pro" pitchFamily="34" charset="0"/>
                <a:ea typeface="Be Vietnam Pro" pitchFamily="34" charset="-122"/>
                <a:cs typeface="Be Vietnam Pro" pitchFamily="34" charset="-120"/>
              </a:rPr>
              <a:t>password hash only</a:t>
            </a:r>
            <a:endParaRPr lang="en-US" sz="1200" dirty="0"/>
          </a:p>
        </p:txBody>
      </p:sp>
      <p:sp>
        <p:nvSpPr>
          <p:cNvPr id="57" name="Shape 48"/>
          <p:cNvSpPr/>
          <p:nvPr/>
        </p:nvSpPr>
        <p:spPr>
          <a:xfrm>
            <a:off x="9147175" y="2924175"/>
            <a:ext cx="2127250" cy="552450"/>
          </a:xfrm>
          <a:prstGeom prst="roundRect">
            <a:avLst>
              <a:gd name="adj" fmla="val 13218"/>
            </a:avLst>
          </a:prstGeom>
          <a:solidFill>
            <a:srgbClr val="FBFCFB"/>
          </a:solidFill>
          <a:ln w="6350">
            <a:solidFill>
              <a:srgbClr val="C3CFCA"/>
            </a:solidFill>
            <a:prstDash val="solid"/>
          </a:ln>
        </p:spPr>
      </p:sp>
      <p:sp>
        <p:nvSpPr>
          <p:cNvPr id="58" name="Text 49"/>
          <p:cNvSpPr/>
          <p:nvPr/>
        </p:nvSpPr>
        <p:spPr>
          <a:xfrm>
            <a:off x="9276080" y="3002280"/>
            <a:ext cx="1925523"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2457B5"/>
                </a:solidFill>
                <a:latin typeface="Be Vietnam Pro" pitchFamily="34" charset="0"/>
                <a:ea typeface="Be Vietnam Pro" pitchFamily="34" charset="-122"/>
                <a:cs typeface="Be Vietnam Pro" pitchFamily="34" charset="-120"/>
              </a:rPr>
              <a:t>L2 personal</a:t>
            </a:r>
            <a:endParaRPr lang="en-US" sz="1200" dirty="0"/>
          </a:p>
        </p:txBody>
      </p:sp>
      <p:sp>
        <p:nvSpPr>
          <p:cNvPr id="59" name="Text 50"/>
          <p:cNvSpPr/>
          <p:nvPr/>
        </p:nvSpPr>
        <p:spPr>
          <a:xfrm>
            <a:off x="9276080" y="3200400"/>
            <a:ext cx="1925523"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E5D57"/>
                </a:solidFill>
                <a:latin typeface="Be Vietnam Pro" pitchFamily="34" charset="0"/>
                <a:ea typeface="Be Vietnam Pro" pitchFamily="34" charset="-122"/>
                <a:cs typeface="Be Vietnam Pro" pitchFamily="34" charset="-120"/>
              </a:rPr>
              <a:t>profile, workouts, meals</a:t>
            </a:r>
            <a:endParaRPr lang="en-US" sz="1200" dirty="0"/>
          </a:p>
        </p:txBody>
      </p:sp>
      <p:sp>
        <p:nvSpPr>
          <p:cNvPr id="60" name="Shape 51"/>
          <p:cNvSpPr/>
          <p:nvPr/>
        </p:nvSpPr>
        <p:spPr>
          <a:xfrm>
            <a:off x="9150350" y="3562350"/>
            <a:ext cx="2120900" cy="556260"/>
          </a:xfrm>
          <a:prstGeom prst="roundRect">
            <a:avLst>
              <a:gd name="adj" fmla="val 12557"/>
            </a:avLst>
          </a:prstGeom>
          <a:solidFill>
            <a:srgbClr val="FBFCFB"/>
          </a:solidFill>
          <a:ln w="12700">
            <a:solidFill>
              <a:srgbClr val="B02A45"/>
            </a:solidFill>
            <a:prstDash val="solid"/>
          </a:ln>
        </p:spPr>
      </p:sp>
      <p:sp>
        <p:nvSpPr>
          <p:cNvPr id="61" name="Text 52"/>
          <p:cNvSpPr/>
          <p:nvPr/>
        </p:nvSpPr>
        <p:spPr>
          <a:xfrm>
            <a:off x="9281160" y="3642361"/>
            <a:ext cx="1915059"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B02A45"/>
                </a:solidFill>
                <a:latin typeface="Be Vietnam Pro" pitchFamily="34" charset="0"/>
                <a:ea typeface="Be Vietnam Pro" pitchFamily="34" charset="-122"/>
                <a:cs typeface="Be Vietnam Pro" pitchFamily="34" charset="-120"/>
              </a:rPr>
              <a:t>L3 health, separate</a:t>
            </a:r>
            <a:endParaRPr lang="en-US" sz="1200" dirty="0"/>
          </a:p>
        </p:txBody>
      </p:sp>
      <p:sp>
        <p:nvSpPr>
          <p:cNvPr id="62" name="Text 53"/>
          <p:cNvSpPr/>
          <p:nvPr/>
        </p:nvSpPr>
        <p:spPr>
          <a:xfrm>
            <a:off x="9281160" y="3840480"/>
            <a:ext cx="1915059"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E5D57"/>
                </a:solidFill>
                <a:latin typeface="Be Vietnam Pro" pitchFamily="34" charset="0"/>
                <a:ea typeface="Be Vietnam Pro" pitchFamily="34" charset="-122"/>
                <a:cs typeface="Be Vietnam Pro" pitchFamily="34" charset="-120"/>
              </a:rPr>
              <a:t>conditions, pain</a:t>
            </a:r>
            <a:endParaRPr lang="en-US" sz="1200" dirty="0"/>
          </a:p>
        </p:txBody>
      </p:sp>
      <p:sp>
        <p:nvSpPr>
          <p:cNvPr id="63" name="Shape 54"/>
          <p:cNvSpPr/>
          <p:nvPr/>
        </p:nvSpPr>
        <p:spPr>
          <a:xfrm>
            <a:off x="9051925" y="4479925"/>
            <a:ext cx="2317750" cy="1555750"/>
          </a:xfrm>
          <a:prstGeom prst="roundRect">
            <a:avLst>
              <a:gd name="adj" fmla="val 7551"/>
            </a:avLst>
          </a:prstGeom>
          <a:noFill/>
          <a:ln w="19050">
            <a:solidFill>
              <a:srgbClr val="B02A45"/>
            </a:solidFill>
            <a:prstDash val="dash"/>
          </a:ln>
        </p:spPr>
      </p:sp>
      <p:sp>
        <p:nvSpPr>
          <p:cNvPr id="64" name="Text 55"/>
          <p:cNvSpPr/>
          <p:nvPr/>
        </p:nvSpPr>
        <p:spPr>
          <a:xfrm>
            <a:off x="9194800" y="4533900"/>
            <a:ext cx="2158365" cy="23876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B02A45"/>
                </a:solidFill>
                <a:latin typeface="JetBrains Mono" pitchFamily="49" charset="0"/>
                <a:ea typeface="JetBrains Mono" pitchFamily="49" charset="-122"/>
                <a:cs typeface="JetBrains Mono" pitchFamily="49" charset="-120"/>
              </a:rPr>
              <a:t>THIRD PARTIES</a:t>
            </a:r>
            <a:endParaRPr lang="en-US" sz="1200" dirty="0"/>
          </a:p>
        </p:txBody>
      </p:sp>
      <p:sp>
        <p:nvSpPr>
          <p:cNvPr id="65" name="Shape 56"/>
          <p:cNvSpPr/>
          <p:nvPr/>
        </p:nvSpPr>
        <p:spPr>
          <a:xfrm>
            <a:off x="9147175" y="4816475"/>
            <a:ext cx="2127250" cy="527050"/>
          </a:xfrm>
          <a:prstGeom prst="roundRect">
            <a:avLst>
              <a:gd name="adj" fmla="val 13855"/>
            </a:avLst>
          </a:prstGeom>
          <a:solidFill>
            <a:srgbClr val="FBFCFB"/>
          </a:solidFill>
          <a:ln w="6350">
            <a:solidFill>
              <a:srgbClr val="C3CFCA"/>
            </a:solidFill>
            <a:prstDash val="solid"/>
          </a:ln>
        </p:spPr>
      </p:sp>
      <p:sp>
        <p:nvSpPr>
          <p:cNvPr id="66" name="Text 57"/>
          <p:cNvSpPr/>
          <p:nvPr/>
        </p:nvSpPr>
        <p:spPr>
          <a:xfrm>
            <a:off x="9276080" y="4881880"/>
            <a:ext cx="1925523"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4201C"/>
                </a:solidFill>
                <a:latin typeface="Be Vietnam Pro" pitchFamily="34" charset="0"/>
                <a:ea typeface="Be Vietnam Pro" pitchFamily="34" charset="-122"/>
                <a:cs typeface="Be Vietnam Pro" pitchFamily="34" charset="-120"/>
              </a:rPr>
              <a:t>LLM API</a:t>
            </a:r>
            <a:endParaRPr lang="en-US" sz="1200" dirty="0"/>
          </a:p>
        </p:txBody>
      </p:sp>
      <p:sp>
        <p:nvSpPr>
          <p:cNvPr id="67" name="Text 58"/>
          <p:cNvSpPr/>
          <p:nvPr/>
        </p:nvSpPr>
        <p:spPr>
          <a:xfrm>
            <a:off x="9276080" y="5080000"/>
            <a:ext cx="1925523"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E5D57"/>
                </a:solidFill>
                <a:latin typeface="Be Vietnam Pro" pitchFamily="34" charset="0"/>
                <a:ea typeface="Be Vietnam Pro" pitchFamily="34" charset="-122"/>
                <a:cs typeface="Be Vietnam Pro" pitchFamily="34" charset="-120"/>
              </a:rPr>
              <a:t>pseudonymized only</a:t>
            </a:r>
            <a:endParaRPr lang="en-US" sz="1200" dirty="0"/>
          </a:p>
        </p:txBody>
      </p:sp>
      <p:sp>
        <p:nvSpPr>
          <p:cNvPr id="68" name="Shape 59"/>
          <p:cNvSpPr/>
          <p:nvPr/>
        </p:nvSpPr>
        <p:spPr>
          <a:xfrm>
            <a:off x="9147175" y="5438775"/>
            <a:ext cx="2127250" cy="527050"/>
          </a:xfrm>
          <a:prstGeom prst="roundRect">
            <a:avLst>
              <a:gd name="adj" fmla="val 13855"/>
            </a:avLst>
          </a:prstGeom>
          <a:solidFill>
            <a:srgbClr val="FBFCFB"/>
          </a:solidFill>
          <a:ln w="6350">
            <a:solidFill>
              <a:srgbClr val="C3CFCA"/>
            </a:solidFill>
            <a:prstDash val="solid"/>
          </a:ln>
        </p:spPr>
      </p:sp>
      <p:sp>
        <p:nvSpPr>
          <p:cNvPr id="69" name="Text 60"/>
          <p:cNvSpPr/>
          <p:nvPr/>
        </p:nvSpPr>
        <p:spPr>
          <a:xfrm>
            <a:off x="9276080" y="5504180"/>
            <a:ext cx="1925523"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4201C"/>
                </a:solidFill>
                <a:latin typeface="Be Vietnam Pro" pitchFamily="34" charset="0"/>
                <a:ea typeface="Be Vietnam Pro" pitchFamily="34" charset="-122"/>
                <a:cs typeface="Be Vietnam Pro" pitchFamily="34" charset="-120"/>
              </a:rPr>
              <a:t>Push service</a:t>
            </a:r>
            <a:endParaRPr lang="en-US" sz="1200" dirty="0"/>
          </a:p>
        </p:txBody>
      </p:sp>
      <p:sp>
        <p:nvSpPr>
          <p:cNvPr id="70" name="Text 61"/>
          <p:cNvSpPr/>
          <p:nvPr/>
        </p:nvSpPr>
        <p:spPr>
          <a:xfrm>
            <a:off x="9276080" y="5702300"/>
            <a:ext cx="1925523"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E5D57"/>
                </a:solidFill>
                <a:latin typeface="Be Vietnam Pro" pitchFamily="34" charset="0"/>
                <a:ea typeface="Be Vietnam Pro" pitchFamily="34" charset="-122"/>
                <a:cs typeface="Be Vietnam Pro" pitchFamily="34" charset="-120"/>
              </a:rPr>
              <a:t>generic text only</a:t>
            </a:r>
            <a:endParaRPr lang="en-US" sz="1200" dirty="0"/>
          </a:p>
        </p:txBody>
      </p:sp>
      <p:sp>
        <p:nvSpPr>
          <p:cNvPr id="71" name="Text 62"/>
          <p:cNvSpPr/>
          <p:nvPr/>
        </p:nvSpPr>
        <p:spPr>
          <a:xfrm>
            <a:off x="7950200" y="3784600"/>
            <a:ext cx="10922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4E5D57"/>
                </a:solidFill>
                <a:latin typeface="Be Vietnam Pro" pitchFamily="34" charset="0"/>
                <a:ea typeface="Be Vietnam Pro" pitchFamily="34" charset="-122"/>
                <a:cs typeface="Be Vietnam Pro" pitchFamily="34" charset="-120"/>
              </a:rPr>
              <a:t>own rows</a:t>
            </a:r>
            <a:endParaRPr lang="en-US" sz="1200" dirty="0"/>
          </a:p>
        </p:txBody>
      </p:sp>
      <p:pic>
        <p:nvPicPr>
          <p:cNvPr id="72" name="Image 7" descr="connector">    </p:cNvPr>
          <p:cNvPicPr>
            <a:picLocks noChangeAspect="1"/>
          </p:cNvPicPr>
          <p:nvPr/>
        </p:nvPicPr>
        <p:blipFill>
          <a:blip r:embed="rId8"/>
          <a:srcRect l="0" r="0" t="0" b="0"/>
          <a:stretch/>
        </p:blipFill>
        <p:spPr>
          <a:xfrm>
            <a:off x="7810500" y="4019550"/>
            <a:ext cx="1270000" cy="101600"/>
          </a:xfrm>
          <a:prstGeom prst="rect">
            <a:avLst/>
          </a:prstGeom>
        </p:spPr>
      </p:pic>
      <p:sp>
        <p:nvSpPr>
          <p:cNvPr id="73" name="Text 63"/>
          <p:cNvSpPr/>
          <p:nvPr/>
        </p:nvSpPr>
        <p:spPr>
          <a:xfrm>
            <a:off x="7950200" y="4521200"/>
            <a:ext cx="1092200" cy="215900"/>
          </a:xfrm>
          <a:prstGeom prst="rect">
            <a:avLst/>
          </a:prstGeom>
          <a:noFill/>
          <a:ln/>
        </p:spPr>
        <p:txBody>
          <a:bodyPr wrap="square" lIns="0" tIns="0" rIns="0" bIns="0" rtlCol="0" anchor="t">
            <a:normAutofit/>
          </a:bodyPr>
          <a:lstStyle/>
          <a:p>
            <a:pPr algn="ctr" indent="0" marL="0">
              <a:lnSpc>
                <a:spcPts val="1500"/>
              </a:lnSpc>
              <a:buNone/>
            </a:pPr>
            <a:r>
              <a:rPr lang="en-US" sz="1200" b="1" dirty="0">
                <a:solidFill>
                  <a:srgbClr val="B83A15"/>
                </a:solidFill>
                <a:latin typeface="Be Vietnam Pro" pitchFamily="34" charset="0"/>
                <a:ea typeface="Be Vietnam Pro" pitchFamily="34" charset="-122"/>
                <a:cs typeface="Be Vietnam Pro" pitchFamily="34" charset="-120"/>
              </a:rPr>
              <a:t>prompt</a:t>
            </a:r>
            <a:endParaRPr lang="en-US" sz="1200" dirty="0"/>
          </a:p>
        </p:txBody>
      </p:sp>
      <p:pic>
        <p:nvPicPr>
          <p:cNvPr id="74" name="Image 8" descr="connector">    </p:cNvPr>
          <p:cNvPicPr>
            <a:picLocks noChangeAspect="1"/>
          </p:cNvPicPr>
          <p:nvPr/>
        </p:nvPicPr>
        <p:blipFill>
          <a:blip r:embed="rId9"/>
          <a:srcRect l="0" r="0" t="0" b="0"/>
          <a:stretch/>
        </p:blipFill>
        <p:spPr>
          <a:xfrm>
            <a:off x="7810500" y="4756150"/>
            <a:ext cx="1371600" cy="393700"/>
          </a:xfrm>
          <a:prstGeom prst="rect">
            <a:avLst/>
          </a:prstGeom>
        </p:spPr>
      </p:pic>
      <p:pic>
        <p:nvPicPr>
          <p:cNvPr id="75" name="Image 9" descr="connector">    </p:cNvPr>
          <p:cNvPicPr>
            <a:picLocks noChangeAspect="1"/>
          </p:cNvPicPr>
          <p:nvPr/>
        </p:nvPicPr>
        <p:blipFill>
          <a:blip r:embed="rId10"/>
          <a:srcRect l="0" r="0" t="0" b="0"/>
          <a:stretch/>
        </p:blipFill>
        <p:spPr>
          <a:xfrm>
            <a:off x="7810500" y="5492750"/>
            <a:ext cx="1371600" cy="279400"/>
          </a:xfrm>
          <a:prstGeom prst="rect">
            <a:avLst/>
          </a:prstGeom>
        </p:spPr>
      </p:pic>
      <p:pic>
        <p:nvPicPr>
          <p:cNvPr id="76" name="Image 10" descr="connector">    </p:cNvPr>
          <p:cNvPicPr>
            <a:picLocks noChangeAspect="1"/>
          </p:cNvPicPr>
          <p:nvPr/>
        </p:nvPicPr>
        <p:blipFill>
          <a:blip r:embed="rId11"/>
          <a:srcRect l="0" r="0" t="0" b="0"/>
          <a:stretch/>
        </p:blipFill>
        <p:spPr>
          <a:xfrm>
            <a:off x="10160000" y="5956300"/>
            <a:ext cx="101600" cy="419100"/>
          </a:xfrm>
          <a:prstGeom prst="rect">
            <a:avLst/>
          </a:prstGeom>
        </p:spPr>
      </p:pic>
      <p:pic>
        <p:nvPicPr>
          <p:cNvPr id="77" name="Image 11" descr="connector">    </p:cNvPr>
          <p:cNvPicPr>
            <a:picLocks noChangeAspect="1"/>
          </p:cNvPicPr>
          <p:nvPr/>
        </p:nvPicPr>
        <p:blipFill>
          <a:blip r:embed="rId12"/>
          <a:srcRect l="0" r="0" t="0" b="0"/>
          <a:stretch/>
        </p:blipFill>
        <p:spPr>
          <a:xfrm>
            <a:off x="2095500" y="6273800"/>
            <a:ext cx="8166100" cy="101600"/>
          </a:xfrm>
          <a:prstGeom prst="rect">
            <a:avLst/>
          </a:prstGeom>
        </p:spPr>
      </p:pic>
      <p:pic>
        <p:nvPicPr>
          <p:cNvPr id="78" name="Image 12" descr="connector">    </p:cNvPr>
          <p:cNvPicPr>
            <a:picLocks noChangeAspect="1"/>
          </p:cNvPicPr>
          <p:nvPr/>
        </p:nvPicPr>
        <p:blipFill>
          <a:blip r:embed="rId13"/>
          <a:srcRect l="0" r="0" t="0" b="0"/>
          <a:stretch/>
        </p:blipFill>
        <p:spPr>
          <a:xfrm>
            <a:off x="2095500" y="5842000"/>
            <a:ext cx="101600" cy="533400"/>
          </a:xfrm>
          <a:prstGeom prst="rect">
            <a:avLst/>
          </a:prstGeom>
        </p:spPr>
      </p:pic>
      <p:sp>
        <p:nvSpPr>
          <p:cNvPr id="79" name="Text 64"/>
          <p:cNvSpPr/>
          <p:nvPr/>
        </p:nvSpPr>
        <p:spPr>
          <a:xfrm>
            <a:off x="3479800" y="6362700"/>
            <a:ext cx="52324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4E5D57"/>
                </a:solidFill>
                <a:latin typeface="Be Vietnam Pro" pitchFamily="34" charset="0"/>
                <a:ea typeface="Be Vietnam Pro" pitchFamily="34" charset="-122"/>
                <a:cs typeface="Be Vietnam Pro" pitchFamily="34" charset="-120"/>
              </a:rPr>
              <a:t>push: “Time to train!” · no weight, kcal or health info</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6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3A15"/>
                </a:solidFill>
                <a:latin typeface="JetBrains Mono" pitchFamily="49" charset="0"/>
                <a:ea typeface="JetBrains Mono" pitchFamily="49" charset="-122"/>
                <a:cs typeface="JetBrains Mono" pitchFamily="49" charset="-120"/>
              </a:rPr>
              <a:t>DATA CLASSIFICATION</a:t>
            </a:r>
            <a:endParaRPr lang="en-US" sz="1200" dirty="0"/>
          </a:p>
        </p:txBody>
      </p:sp>
      <p:sp>
        <p:nvSpPr>
          <p:cNvPr id="3" name="Text 1"/>
          <p:cNvSpPr/>
          <p:nvPr>
            <p:ph type="title"/>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01C"/>
                </a:solidFill>
                <a:latin typeface="Be Vietnam Pro" pitchFamily="34" charset="0"/>
                <a:ea typeface="Be Vietnam Pro" pitchFamily="34" charset="-122"/>
                <a:cs typeface="Be Vietnam Pro" pitchFamily="34" charset="-120"/>
              </a:rPr>
              <a:t>Every data item has a sensitivity level</a:t>
            </a:r>
            <a:endParaRPr lang="en-US" sz="3200" dirty="0"/>
          </a:p>
        </p:txBody>
      </p:sp>
      <p:sp>
        <p:nvSpPr>
          <p:cNvPr id="4" name="Shape 2"/>
          <p:cNvSpPr/>
          <p:nvPr/>
        </p:nvSpPr>
        <p:spPr>
          <a:xfrm>
            <a:off x="812800" y="1828800"/>
            <a:ext cx="10566400" cy="2618740"/>
          </a:xfrm>
          <a:prstGeom prst="roundRect">
            <a:avLst>
              <a:gd name="adj" fmla="val 3880"/>
            </a:avLst>
          </a:prstGeom>
          <a:solidFill>
            <a:srgbClr val="FBFCFB"/>
          </a:solidFill>
          <a:ln/>
        </p:spPr>
      </p:sp>
      <p:sp>
        <p:nvSpPr>
          <p:cNvPr id="5" name="Shape 3"/>
          <p:cNvSpPr/>
          <p:nvPr/>
        </p:nvSpPr>
        <p:spPr>
          <a:xfrm>
            <a:off x="812800" y="1828800"/>
            <a:ext cx="10566400" cy="2618740"/>
          </a:xfrm>
          <a:custGeom>
            <a:avLst/>
            <a:gdLst/>
            <a:ahLst/>
            <a:cxnLst/>
            <a:rect l="l" t="t" r="r" b="b"/>
            <a:pathLst>
              <a:path w="10566400" h="2618740">
                <a:moveTo>
                  <a:pt x="10464800" y="0"/>
                </a:moveTo>
                <a:lnTo>
                  <a:pt x="10464800" y="0"/>
                </a:lnTo>
                <a:arcTo hR="101600" wR="101600" stAng="16200000" swAng="5400000"/>
                <a:lnTo>
                  <a:pt x="10566400" y="2517140"/>
                </a:lnTo>
                <a:arcTo hR="101600" wR="101600" stAng="0" swAng="5400000"/>
                <a:lnTo>
                  <a:pt x="101600" y="2618740"/>
                </a:lnTo>
                <a:arcTo hR="101600" wR="101600" stAng="5400000" swAng="5400000"/>
                <a:lnTo>
                  <a:pt x="0" y="2517140"/>
                </a:lnTo>
                <a:arcTo hR="95250" wR="101600" stAng="10800000" swAng="-5400000"/>
                <a:lnTo>
                  <a:pt x="10464800" y="2612390"/>
                </a:lnTo>
                <a:arcTo hR="95250" wR="95250" stAng="5400000" swAng="-5400000"/>
                <a:lnTo>
                  <a:pt x="10560050" y="101600"/>
                </a:lnTo>
                <a:arcTo hR="101600" wR="95250" stAng="0" swAng="-5400000"/>
                <a:close/>
              </a:path>
            </a:pathLst>
          </a:custGeom>
          <a:solidFill>
            <a:srgbClr val="C3CFCA"/>
          </a:solidFill>
          <a:ln/>
        </p:spPr>
      </p:sp>
      <p:sp>
        <p:nvSpPr>
          <p:cNvPr id="6" name="Shape 4"/>
          <p:cNvSpPr/>
          <p:nvPr/>
        </p:nvSpPr>
        <p:spPr>
          <a:xfrm>
            <a:off x="812800" y="1828800"/>
            <a:ext cx="10566400" cy="2618740"/>
          </a:xfrm>
          <a:custGeom>
            <a:avLst/>
            <a:gdLst/>
            <a:ahLst/>
            <a:cxnLst/>
            <a:rect l="l" t="t" r="r" b="b"/>
            <a:pathLst>
              <a:path w="10566400" h="2618740">
                <a:moveTo>
                  <a:pt x="101600" y="2618740"/>
                </a:moveTo>
                <a:lnTo>
                  <a:pt x="101600" y="2618740"/>
                </a:lnTo>
                <a:arcTo hR="101600" wR="101600" stAng="5400000" swAng="5400000"/>
                <a:lnTo>
                  <a:pt x="0" y="101600"/>
                </a:lnTo>
                <a:arcTo hR="101600" wR="101600" stAng="10800000" swAng="5400000"/>
                <a:lnTo>
                  <a:pt x="10464800" y="0"/>
                </a:lnTo>
                <a:arcTo hR="101600" wR="101600" stAng="16200000" swAng="5400000"/>
                <a:lnTo>
                  <a:pt x="10566400" y="101600"/>
                </a:lnTo>
                <a:arcTo hR="91440" wR="101600" stAng="0" swAng="-5400000"/>
                <a:lnTo>
                  <a:pt x="101600" y="10160"/>
                </a:lnTo>
                <a:arcTo hR="91440" wR="91440" stAng="16200000" swAng="-5400000"/>
                <a:lnTo>
                  <a:pt x="10160" y="2517140"/>
                </a:lnTo>
                <a:arcTo hR="101600" wR="91440" stAng="10800000" swAng="-5400000"/>
                <a:close/>
              </a:path>
            </a:pathLst>
          </a:custGeom>
          <a:solidFill>
            <a:srgbClr val="141413">
              <a:alpha val="22000"/>
            </a:srgbClr>
          </a:solidFill>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2960" y="1838960"/>
          <a:ext cx="10551160" cy="2603500"/>
        </p:xfrm>
        <a:graphic>
          <a:graphicData uri="http://schemas.openxmlformats.org/drawingml/2006/table">
            <a:tbl>
              <a:tblPr/>
              <a:tblGrid>
                <a:gridCol w="2532278"/>
                <a:gridCol w="4009441"/>
                <a:gridCol w="4009441"/>
              </a:tblGrid>
              <a:tr h="356870">
                <a:tc>
                  <a:txBody>
                    <a:bodyPr/>
                    <a:lstStyle/>
                    <a:p>
                      <a:pPr indent="0" marL="0">
                        <a:lnSpc>
                          <a:spcPts val="1820"/>
                        </a:lnSpc>
                        <a:buNone/>
                      </a:pPr>
                      <a:r>
                        <a:rPr lang="en-US" sz="1300" b="1" dirty="0">
                          <a:solidFill>
                            <a:srgbClr val="14201C"/>
                          </a:solidFill>
                          <a:latin typeface="Be Vietnam Pro" pitchFamily="34" charset="0"/>
                          <a:ea typeface="Be Vietnam Pro" pitchFamily="34" charset="-122"/>
                          <a:cs typeface="Be Vietnam Pro" pitchFamily="34" charset="-120"/>
                        </a:rPr>
                        <a:t>Level</a:t>
                      </a:r>
                      <a:endParaRPr lang="en-US" sz="1300" dirty="0">
                        <a:latin typeface="Be Vietnam Pro" charset="0"/>
                        <a:ea typeface="Be Vietnam Pro" charset="0"/>
                        <a:cs typeface="Be Vietnam Pro" charset="0"/>
                      </a:endParaRPr>
                    </a:p>
                  </a:txBody>
                  <a:tcPr marL="57785" marR="57785" marT="57785" marB="57785" anchor="t">
                    <a:lnL w="0" cap="flat" cmpd="sng" algn="ctr">
                      <a:noFill/>
                    </a:lnL>
                    <a:lnR w="12700" cap="flat" cmpd="sng" algn="ctr">
                      <a:solidFill>
                        <a:srgbClr val="B6BCB9"/>
                      </a:solidFill>
                      <a:prstDash val="solid"/>
                      <a:round/>
                      <a:headEnd type="none" w="med" len="med"/>
                      <a:tailEnd type="none" w="med" len="med"/>
                    </a:lnR>
                    <a:lnT w="0" cap="flat" cmpd="sng" algn="ctr">
                      <a:noFill/>
                    </a:lnT>
                    <a:lnB w="12700" cap="flat" cmpd="sng" algn="ctr">
                      <a:solidFill>
                        <a:srgbClr val="B6BCB9"/>
                      </a:solidFill>
                      <a:prstDash val="solid"/>
                      <a:round/>
                      <a:headEnd type="none" w="med" len="med"/>
                      <a:tailEnd type="none" w="med" len="med"/>
                    </a:lnB>
                    <a:solidFill>
                      <a:srgbClr val="E4EBE8"/>
                    </a:solidFill>
                  </a:tcPr>
                </a:tc>
                <a:tc>
                  <a:txBody>
                    <a:bodyPr/>
                    <a:lstStyle/>
                    <a:p>
                      <a:pPr indent="0" marL="0">
                        <a:lnSpc>
                          <a:spcPts val="1820"/>
                        </a:lnSpc>
                        <a:buNone/>
                      </a:pPr>
                      <a:r>
                        <a:rPr lang="en-US" sz="1300" b="1" dirty="0">
                          <a:solidFill>
                            <a:srgbClr val="14201C"/>
                          </a:solidFill>
                          <a:latin typeface="Be Vietnam Pro" pitchFamily="34" charset="0"/>
                          <a:ea typeface="Be Vietnam Pro" pitchFamily="34" charset="-122"/>
                          <a:cs typeface="Be Vietnam Pro" pitchFamily="34" charset="-120"/>
                        </a:rPr>
                        <a:t>Examples</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6BCB9"/>
                      </a:solidFill>
                      <a:prstDash val="solid"/>
                      <a:round/>
                      <a:headEnd type="none" w="med" len="med"/>
                      <a:tailEnd type="none" w="med" len="med"/>
                    </a:lnL>
                    <a:lnR w="12700" cap="flat" cmpd="sng" algn="ctr">
                      <a:solidFill>
                        <a:srgbClr val="B6BCB9"/>
                      </a:solidFill>
                      <a:prstDash val="solid"/>
                      <a:round/>
                      <a:headEnd type="none" w="med" len="med"/>
                      <a:tailEnd type="none" w="med" len="med"/>
                    </a:lnR>
                    <a:lnT w="0" cap="flat" cmpd="sng" algn="ctr">
                      <a:noFill/>
                    </a:lnT>
                    <a:lnB w="12700" cap="flat" cmpd="sng" algn="ctr">
                      <a:solidFill>
                        <a:srgbClr val="B6BCB9"/>
                      </a:solidFill>
                      <a:prstDash val="solid"/>
                      <a:round/>
                      <a:headEnd type="none" w="med" len="med"/>
                      <a:tailEnd type="none" w="med" len="med"/>
                    </a:lnB>
                    <a:solidFill>
                      <a:srgbClr val="E4EBE8"/>
                    </a:solidFill>
                  </a:tcPr>
                </a:tc>
                <a:tc>
                  <a:txBody>
                    <a:bodyPr/>
                    <a:lstStyle/>
                    <a:p>
                      <a:pPr indent="0" marL="0">
                        <a:lnSpc>
                          <a:spcPts val="1820"/>
                        </a:lnSpc>
                        <a:buNone/>
                      </a:pPr>
                      <a:r>
                        <a:rPr lang="en-US" sz="1300" b="1" dirty="0">
                          <a:solidFill>
                            <a:srgbClr val="14201C"/>
                          </a:solidFill>
                          <a:latin typeface="Be Vietnam Pro" pitchFamily="34" charset="0"/>
                          <a:ea typeface="Be Vietnam Pro" pitchFamily="34" charset="-122"/>
                          <a:cs typeface="Be Vietnam Pro" pitchFamily="34" charset="-120"/>
                        </a:rPr>
                        <a:t>Rule</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6BCB9"/>
                      </a:solidFill>
                      <a:prstDash val="solid"/>
                      <a:round/>
                      <a:headEnd type="none" w="med" len="med"/>
                      <a:tailEnd type="none" w="med" len="med"/>
                    </a:lnL>
                    <a:lnR w="12700" cap="flat" cmpd="sng" algn="ctr">
                      <a:solidFill>
                        <a:srgbClr val="B6BCB9"/>
                      </a:solidFill>
                      <a:prstDash val="solid"/>
                      <a:round/>
                      <a:headEnd type="none" w="med" len="med"/>
                      <a:tailEnd type="none" w="med" len="med"/>
                    </a:lnR>
                    <a:lnT w="0" cap="flat" cmpd="sng" algn="ctr">
                      <a:noFill/>
                    </a:lnT>
                    <a:lnB w="12700" cap="flat" cmpd="sng" algn="ctr">
                      <a:solidFill>
                        <a:srgbClr val="B6BCB9"/>
                      </a:solidFill>
                      <a:prstDash val="solid"/>
                      <a:round/>
                      <a:headEnd type="none" w="med" len="med"/>
                      <a:tailEnd type="none" w="med" len="med"/>
                    </a:lnB>
                    <a:solidFill>
                      <a:srgbClr val="E4EBE8"/>
                    </a:solidFill>
                  </a:tcPr>
                </a:tc>
              </a:tr>
              <a:tr h="356870">
                <a:tc>
                  <a:txBody>
                    <a:bodyPr/>
                    <a:lstStyle/>
                    <a:p>
                      <a:pPr indent="0" marL="0">
                        <a:lnSpc>
                          <a:spcPts val="1820"/>
                        </a:lnSpc>
                        <a:buNone/>
                      </a:pPr>
                      <a:r>
                        <a:rPr lang="en-US" sz="1300" dirty="0">
                          <a:solidFill>
                            <a:srgbClr val="0A7A5B"/>
                          </a:solidFill>
                          <a:latin typeface="Be Vietnam Pro" pitchFamily="34" charset="0"/>
                          <a:ea typeface="Be Vietnam Pro" pitchFamily="34" charset="-122"/>
                          <a:cs typeface="Be Vietnam Pro" pitchFamily="34" charset="-120"/>
                        </a:rPr>
                        <a:t>L0 · Never leaves the phone</a:t>
                      </a:r>
                      <a:endParaRPr lang="en-US" sz="1300" dirty="0">
                        <a:latin typeface="Be Vietnam Pro" charset="0"/>
                        <a:ea typeface="Be Vietnam Pro" charset="0"/>
                        <a:cs typeface="Be Vietnam Pro" charset="0"/>
                      </a:endParaRPr>
                    </a:p>
                  </a:txBody>
                  <a:tcPr marL="57785" marR="57785" marT="57785" marB="57785" anchor="t">
                    <a:lnL w="0" cap="flat" cmpd="sng" algn="ctr">
                      <a:noFill/>
                    </a:lnL>
                    <a:lnR w="12700" cap="flat" cmpd="sng" algn="ctr">
                      <a:solidFill>
                        <a:srgbClr val="C8C9C8"/>
                      </a:solidFill>
                      <a:prstDash val="solid"/>
                      <a:round/>
                      <a:headEnd type="none" w="med" len="med"/>
                      <a:tailEnd type="none" w="med" len="med"/>
                    </a:lnR>
                    <a:lnT w="12700" cap="flat" cmpd="sng" algn="ctr">
                      <a:solidFill>
                        <a:srgbClr val="B6BCB9"/>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820"/>
                        </a:lnSpc>
                        <a:buNone/>
                      </a:pPr>
                      <a:r>
                        <a:rPr lang="en-US" sz="1300" dirty="0">
                          <a:solidFill>
                            <a:srgbClr val="14201C"/>
                          </a:solidFill>
                          <a:latin typeface="Be Vietnam Pro" pitchFamily="34" charset="0"/>
                          <a:ea typeface="Be Vietnam Pro" pitchFamily="34" charset="-122"/>
                          <a:cs typeface="Be Vietnam Pro" pitchFamily="34" charset="-120"/>
                        </a:rPr>
                        <a:t>camera frames, 33 keypoints, voice audio</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B6BCB9"/>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820"/>
                        </a:lnSpc>
                        <a:buNone/>
                      </a:pPr>
                      <a:r>
                        <a:rPr lang="en-US" sz="1300" dirty="0">
                          <a:solidFill>
                            <a:srgbClr val="14201C"/>
                          </a:solidFill>
                          <a:latin typeface="Be Vietnam Pro" pitchFamily="34" charset="0"/>
                          <a:ea typeface="Be Vietnam Pro" pitchFamily="34" charset="-122"/>
                          <a:cs typeface="Be Vietnam Pro" pitchFamily="34" charset="-120"/>
                        </a:rPr>
                        <a:t>RAM only; no upload endpoint exists</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B6BCB9"/>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r>
              <a:tr h="356870">
                <a:tc>
                  <a:txBody>
                    <a:bodyPr/>
                    <a:lstStyle/>
                    <a:p>
                      <a:pPr indent="0" marL="0">
                        <a:lnSpc>
                          <a:spcPts val="1820"/>
                        </a:lnSpc>
                        <a:buNone/>
                      </a:pPr>
                      <a:r>
                        <a:rPr lang="en-US" sz="1300" dirty="0">
                          <a:solidFill>
                            <a:srgbClr val="4E5D57"/>
                          </a:solidFill>
                          <a:latin typeface="Be Vietnam Pro" pitchFamily="34" charset="0"/>
                          <a:ea typeface="Be Vietnam Pro" pitchFamily="34" charset="-122"/>
                          <a:cs typeface="Be Vietnam Pro" pitchFamily="34" charset="-120"/>
                        </a:rPr>
                        <a:t>L1 · Public</a:t>
                      </a:r>
                      <a:endParaRPr lang="en-US" sz="1300" dirty="0">
                        <a:latin typeface="Be Vietnam Pro" charset="0"/>
                        <a:ea typeface="Be Vietnam Pro" charset="0"/>
                        <a:cs typeface="Be Vietnam Pro" charset="0"/>
                      </a:endParaRPr>
                    </a:p>
                  </a:txBody>
                  <a:tcPr marL="57785" marR="57785" marT="57785" marB="57785" anchor="t">
                    <a:lnL w="0" cap="flat" cmpd="sng" algn="ctr">
                      <a:noFill/>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820"/>
                        </a:lnSpc>
                        <a:buNone/>
                      </a:pPr>
                      <a:r>
                        <a:rPr lang="en-US" sz="1300" dirty="0">
                          <a:solidFill>
                            <a:srgbClr val="14201C"/>
                          </a:solidFill>
                          <a:latin typeface="Be Vietnam Pro" pitchFamily="34" charset="0"/>
                          <a:ea typeface="Be Vietnam Pro" pitchFamily="34" charset="-122"/>
                          <a:cs typeface="Be Vietnam Pro" pitchFamily="34" charset="-120"/>
                        </a:rPr>
                        <a:t>exercise catalog, food calorie table</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820"/>
                        </a:lnSpc>
                        <a:buNone/>
                      </a:pPr>
                      <a:r>
                        <a:rPr lang="en-US" sz="1300" dirty="0">
                          <a:solidFill>
                            <a:srgbClr val="14201C"/>
                          </a:solidFill>
                          <a:latin typeface="Be Vietnam Pro" pitchFamily="34" charset="0"/>
                          <a:ea typeface="Be Vietnam Pro" pitchFamily="34" charset="-122"/>
                          <a:cs typeface="Be Vietnam Pro" pitchFamily="34" charset="-120"/>
                        </a:rPr>
                        <a:t>not linked to any user</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r>
              <a:tr h="356870">
                <a:tc>
                  <a:txBody>
                    <a:bodyPr/>
                    <a:lstStyle/>
                    <a:p>
                      <a:pPr indent="0" marL="0">
                        <a:lnSpc>
                          <a:spcPts val="1820"/>
                        </a:lnSpc>
                        <a:buNone/>
                      </a:pPr>
                      <a:r>
                        <a:rPr lang="en-US" sz="1300" dirty="0">
                          <a:solidFill>
                            <a:srgbClr val="2457B5"/>
                          </a:solidFill>
                          <a:latin typeface="Be Vietnam Pro" pitchFamily="34" charset="0"/>
                          <a:ea typeface="Be Vietnam Pro" pitchFamily="34" charset="-122"/>
                          <a:cs typeface="Be Vietnam Pro" pitchFamily="34" charset="-120"/>
                        </a:rPr>
                        <a:t>L2 · Personal</a:t>
                      </a:r>
                      <a:endParaRPr lang="en-US" sz="1300" dirty="0">
                        <a:latin typeface="Be Vietnam Pro" charset="0"/>
                        <a:ea typeface="Be Vietnam Pro" charset="0"/>
                        <a:cs typeface="Be Vietnam Pro" charset="0"/>
                      </a:endParaRPr>
                    </a:p>
                  </a:txBody>
                  <a:tcPr marL="57785" marR="57785" marT="57785" marB="57785" anchor="t">
                    <a:lnL w="0" cap="flat" cmpd="sng" algn="ctr">
                      <a:noFill/>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820"/>
                        </a:lnSpc>
                        <a:buNone/>
                      </a:pPr>
                      <a:r>
                        <a:rPr lang="en-US" sz="1300" dirty="0">
                          <a:solidFill>
                            <a:srgbClr val="14201C"/>
                          </a:solidFill>
                          <a:latin typeface="Be Vietnam Pro" pitchFamily="34" charset="0"/>
                          <a:ea typeface="Be Vietnam Pro" pitchFamily="34" charset="-122"/>
                          <a:cs typeface="Be Vietnam Pro" pitchFamily="34" charset="-120"/>
                        </a:rPr>
                        <a:t>body metrics, goals, workouts, meals, streak</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820"/>
                        </a:lnSpc>
                        <a:buNone/>
                      </a:pPr>
                      <a:r>
                        <a:rPr lang="en-US" sz="1300" dirty="0">
                          <a:solidFill>
                            <a:srgbClr val="14201C"/>
                          </a:solidFill>
                          <a:latin typeface="Be Vietnam Pro" pitchFamily="34" charset="0"/>
                          <a:ea typeface="Be Vietnam Pro" pitchFamily="34" charset="-122"/>
                          <a:cs typeface="Be Vietnam Pro" pitchFamily="34" charset="-120"/>
                        </a:rPr>
                        <a:t>owner only; pseudonymized for the LLM</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r>
              <a:tr h="588010">
                <a:tc>
                  <a:txBody>
                    <a:bodyPr/>
                    <a:lstStyle/>
                    <a:p>
                      <a:pPr indent="0" marL="0">
                        <a:lnSpc>
                          <a:spcPts val="1820"/>
                        </a:lnSpc>
                        <a:buNone/>
                      </a:pPr>
                      <a:r>
                        <a:rPr lang="en-US" sz="1300" dirty="0">
                          <a:solidFill>
                            <a:srgbClr val="B02A45"/>
                          </a:solidFill>
                          <a:latin typeface="Be Vietnam Pro" pitchFamily="34" charset="0"/>
                          <a:ea typeface="Be Vietnam Pro" pitchFamily="34" charset="-122"/>
                          <a:cs typeface="Be Vietnam Pro" pitchFamily="34" charset="-120"/>
                        </a:rPr>
                        <a:t>L3 · Sensitive (health)</a:t>
                      </a:r>
                      <a:endParaRPr lang="en-US" sz="1300" dirty="0">
                        <a:latin typeface="Be Vietnam Pro" charset="0"/>
                        <a:ea typeface="Be Vietnam Pro" charset="0"/>
                        <a:cs typeface="Be Vietnam Pro" charset="0"/>
                      </a:endParaRPr>
                    </a:p>
                  </a:txBody>
                  <a:tcPr marL="57785" marR="57785" marT="57785" marB="57785" anchor="t">
                    <a:lnL w="0" cap="flat" cmpd="sng" algn="ctr">
                      <a:noFill/>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820"/>
                        </a:lnSpc>
                        <a:buNone/>
                      </a:pPr>
                      <a:r>
                        <a:rPr lang="en-US" sz="1300" dirty="0">
                          <a:solidFill>
                            <a:srgbClr val="14201C"/>
                          </a:solidFill>
                          <a:latin typeface="Be Vietnam Pro" pitchFamily="34" charset="0"/>
                          <a:ea typeface="Be Vietnam Pro" pitchFamily="34" charset="-122"/>
                          <a:cs typeface="Be Vietnam Pro" pitchFamily="34" charset="-120"/>
                        </a:rPr>
                        <a:t>conditions, injuries, pain reports</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820"/>
                        </a:lnSpc>
                        <a:buNone/>
                      </a:pPr>
                      <a:r>
                        <a:rPr lang="en-US" sz="1300" dirty="0">
                          <a:solidFill>
                            <a:srgbClr val="14201C"/>
                          </a:solidFill>
                          <a:latin typeface="Be Vietnam Pro" pitchFamily="34" charset="0"/>
                          <a:ea typeface="Be Vietnam Pro" pitchFamily="34" charset="-122"/>
                          <a:cs typeface="Be Vietnam Pro" pitchFamily="34" charset="-120"/>
                        </a:rPr>
                        <a:t>separate table and consent; never sent to the LLM</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r>
              <a:tr h="588010">
                <a:tc>
                  <a:txBody>
                    <a:bodyPr/>
                    <a:lstStyle/>
                    <a:p>
                      <a:pPr indent="0" marL="0">
                        <a:lnSpc>
                          <a:spcPts val="1820"/>
                        </a:lnSpc>
                        <a:buNone/>
                      </a:pPr>
                      <a:r>
                        <a:rPr lang="en-US" sz="1300" dirty="0">
                          <a:solidFill>
                            <a:srgbClr val="8F5C0B"/>
                          </a:solidFill>
                          <a:latin typeface="Be Vietnam Pro" pitchFamily="34" charset="0"/>
                          <a:ea typeface="Be Vietnam Pro" pitchFamily="34" charset="-122"/>
                          <a:cs typeface="Be Vietnam Pro" pitchFamily="34" charset="-120"/>
                        </a:rPr>
                        <a:t>CRED / META</a:t>
                      </a:r>
                      <a:endParaRPr lang="en-US" sz="1300" dirty="0">
                        <a:latin typeface="Be Vietnam Pro" charset="0"/>
                        <a:ea typeface="Be Vietnam Pro" charset="0"/>
                        <a:cs typeface="Be Vietnam Pro" charset="0"/>
                      </a:endParaRPr>
                    </a:p>
                  </a:txBody>
                  <a:tcPr marL="57785" marR="57785" marT="57785" marB="57785" anchor="t">
                    <a:lnL w="0" cap="flat" cmpd="sng" algn="ctr">
                      <a:noFill/>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820"/>
                        </a:lnSpc>
                        <a:buNone/>
                      </a:pPr>
                      <a:r>
                        <a:rPr lang="en-US" sz="1300" dirty="0">
                          <a:solidFill>
                            <a:srgbClr val="14201C"/>
                          </a:solidFill>
                          <a:latin typeface="Be Vietnam Pro" pitchFamily="34" charset="0"/>
                          <a:ea typeface="Be Vietnam Pro" pitchFamily="34" charset="-122"/>
                          <a:cs typeface="Be Vietnam Pro" pitchFamily="34" charset="-120"/>
                        </a:rPr>
                        <a:t>password hash, tokens, API keys, consents, logs</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820"/>
                        </a:lnSpc>
                        <a:buNone/>
                      </a:pPr>
                      <a:r>
                        <a:rPr lang="en-US" sz="1300" dirty="0">
                          <a:solidFill>
                            <a:srgbClr val="14201C"/>
                          </a:solidFill>
                          <a:latin typeface="Be Vietnam Pro" pitchFamily="34" charset="0"/>
                          <a:ea typeface="Be Vietnam Pro" pitchFamily="34" charset="-122"/>
                          <a:cs typeface="Be Vietnam Pro" pitchFamily="34" charset="-120"/>
                        </a:rPr>
                        <a:t>secrets stay on the server; logs keep a user UUID only</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r>
            </a:tbl>
          </a:graphicData>
        </a:graphic>
      </p:graphicFrame>
      <p:sp>
        <p:nvSpPr>
          <p:cNvPr id="8" name="Text 5"/>
          <p:cNvSpPr/>
          <p:nvPr/>
        </p:nvSpPr>
        <p:spPr>
          <a:xfrm>
            <a:off x="812800" y="4701541"/>
            <a:ext cx="10883392"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E5D57"/>
                </a:solidFill>
                <a:latin typeface="Be Vietnam Pro" pitchFamily="34" charset="0"/>
                <a:ea typeface="Be Vietnam Pro" pitchFamily="34" charset="-122"/>
                <a:cs typeface="Be Vietnam Pro" pitchFamily="34" charset="-120"/>
              </a:rPr>
              <a:t>Health data is sensitive personal data under Vietnam’s Personal Data Protection Law 2025 (Law 91/2025/QH15, in force since 1 January 2026), so it needs its own consent.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6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3A15"/>
                </a:solidFill>
                <a:latin typeface="JetBrains Mono" pitchFamily="49" charset="0"/>
                <a:ea typeface="JetBrains Mono" pitchFamily="49" charset="-122"/>
                <a:cs typeface="JetBrains Mono" pitchFamily="49" charset="-120"/>
              </a:rPr>
              <a:t>FLOWS 1–3 · ONBOARDING</a:t>
            </a:r>
            <a:endParaRPr lang="en-US" sz="1200" dirty="0"/>
          </a:p>
        </p:txBody>
      </p:sp>
      <p:sp>
        <p:nvSpPr>
          <p:cNvPr id="3" name="Text 1"/>
          <p:cNvSpPr/>
          <p:nvPr>
            <p:ph type="title"/>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01C"/>
                </a:solidFill>
                <a:latin typeface="Be Vietnam Pro" pitchFamily="34" charset="0"/>
                <a:ea typeface="Be Vietnam Pro" pitchFamily="34" charset="-122"/>
                <a:cs typeface="Be Vietnam Pro" pitchFamily="34" charset="-120"/>
              </a:rPr>
              <a:t>Sign-up, assessment and the first plan</a:t>
            </a:r>
            <a:endParaRPr lang="en-US" sz="3200" dirty="0"/>
          </a:p>
        </p:txBody>
      </p:sp>
      <p:sp>
        <p:nvSpPr>
          <p:cNvPr id="4" name="Shape 2"/>
          <p:cNvSpPr/>
          <p:nvPr/>
        </p:nvSpPr>
        <p:spPr>
          <a:xfrm>
            <a:off x="815975" y="1831975"/>
            <a:ext cx="3380264" cy="4210050"/>
          </a:xfrm>
          <a:prstGeom prst="roundRect">
            <a:avLst>
              <a:gd name="adj" fmla="val 3287"/>
            </a:avLst>
          </a:prstGeom>
          <a:solidFill>
            <a:srgbClr val="FBFCFB"/>
          </a:solidFill>
          <a:ln w="6350">
            <a:solidFill>
              <a:srgbClr val="C3CFCA"/>
            </a:solidFill>
            <a:prstDash val="solid"/>
          </a:ln>
        </p:spPr>
      </p:sp>
      <p:sp>
        <p:nvSpPr>
          <p:cNvPr id="5" name="Text 3"/>
          <p:cNvSpPr/>
          <p:nvPr/>
        </p:nvSpPr>
        <p:spPr>
          <a:xfrm>
            <a:off x="1046480" y="2062482"/>
            <a:ext cx="300683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3A15"/>
                </a:solidFill>
                <a:latin typeface="JetBrains Mono" pitchFamily="49" charset="0"/>
                <a:ea typeface="JetBrains Mono" pitchFamily="49" charset="-122"/>
                <a:cs typeface="JetBrains Mono" pitchFamily="49" charset="-120"/>
              </a:rPr>
              <a:t>F1 · Step 0</a:t>
            </a:r>
            <a:endParaRPr lang="en-US" sz="1200" dirty="0"/>
          </a:p>
        </p:txBody>
      </p:sp>
      <p:sp>
        <p:nvSpPr>
          <p:cNvPr id="6" name="Text 4"/>
          <p:cNvSpPr/>
          <p:nvPr/>
        </p:nvSpPr>
        <p:spPr>
          <a:xfrm>
            <a:off x="1046480" y="2390139"/>
            <a:ext cx="3006831"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01C"/>
                </a:solidFill>
                <a:latin typeface="Be Vietnam Pro" pitchFamily="34" charset="0"/>
                <a:ea typeface="Be Vietnam Pro" pitchFamily="34" charset="-122"/>
                <a:cs typeface="Be Vietnam Pro" pitchFamily="34" charset="-120"/>
              </a:rPr>
              <a:t>Sign-up &amp; log-in</a:t>
            </a:r>
            <a:endParaRPr lang="en-US" sz="1800" dirty="0"/>
          </a:p>
        </p:txBody>
      </p:sp>
      <p:sp>
        <p:nvSpPr>
          <p:cNvPr id="7" name="Text 5"/>
          <p:cNvSpPr/>
          <p:nvPr/>
        </p:nvSpPr>
        <p:spPr>
          <a:xfrm>
            <a:off x="1145286" y="2778761"/>
            <a:ext cx="2900405" cy="1305560"/>
          </a:xfrm>
          <a:prstGeom prst="rect">
            <a:avLst/>
          </a:prstGeom>
          <a:noFill/>
          <a:ln/>
        </p:spPr>
        <p:txBody>
          <a:bodyPr wrap="square" lIns="0" tIns="0" rIns="0" bIns="0" rtlCol="0" anchor="t">
            <a:normAutofit/>
          </a:bodyPr>
          <a:lstStyle/>
          <a:p>
            <a:pPr algn="l" marL="155194" indent="-155194">
              <a:lnSpc>
                <a:spcPts val="1680"/>
              </a:lnSpc>
              <a:buSzPct val="100000"/>
              <a:buChar char="•"/>
            </a:pPr>
            <a:r>
              <a:rPr lang="en-US" sz="1200" dirty="0">
                <a:solidFill>
                  <a:srgbClr val="14201C"/>
                </a:solidFill>
                <a:latin typeface="Be Vietnam Pro" pitchFamily="34" charset="0"/>
                <a:ea typeface="Be Vietnam Pro" pitchFamily="34" charset="-122"/>
                <a:cs typeface="Be Vietnam Pro" pitchFamily="34" charset="-120"/>
              </a:rPr>
              <a:t>Password hashed with Argon2id or bcrypt; only the hash is stored</a:t>
            </a:r>
            <a:endParaRPr lang="en-US" sz="1200" dirty="0"/>
          </a:p>
          <a:p>
            <a:pPr algn="l" marL="155194" indent="-155194">
              <a:lnSpc>
                <a:spcPts val="1680"/>
              </a:lnSpc>
              <a:buSzPct val="100000"/>
              <a:buChar char="•"/>
            </a:pPr>
            <a:r>
              <a:rPr lang="en-US" sz="1200" dirty="0">
                <a:solidFill>
                  <a:srgbClr val="14201C"/>
                </a:solidFill>
                <a:latin typeface="Be Vietnam Pro" pitchFamily="34" charset="0"/>
                <a:ea typeface="Be Vietnam Pro" pitchFamily="34" charset="-122"/>
                <a:cs typeface="Be Vietnam Pro" pitchFamily="34" charset="-120"/>
              </a:rPr>
              <a:t>Short-lived JWT + rotating refresh token, kept in Keychain / Keystore</a:t>
            </a:r>
            <a:endParaRPr lang="en-US" sz="1200" dirty="0"/>
          </a:p>
          <a:p>
            <a:pPr algn="l" marL="155194" indent="-155194">
              <a:lnSpc>
                <a:spcPts val="1680"/>
              </a:lnSpc>
              <a:buSzPct val="100000"/>
              <a:buChar char="•"/>
            </a:pPr>
            <a:r>
              <a:rPr lang="en-US" sz="1200" dirty="0">
                <a:solidFill>
                  <a:srgbClr val="14201C"/>
                </a:solidFill>
                <a:latin typeface="Be Vietnam Pro" pitchFamily="34" charset="0"/>
                <a:ea typeface="Be Vietnam Pro" pitchFamily="34" charset="-122"/>
                <a:cs typeface="Be Vietnam Pro" pitchFamily="34" charset="-120"/>
              </a:rPr>
              <a:t>Separate checkbox for health data, logged with terms version and time</a:t>
            </a:r>
            <a:endParaRPr lang="en-US" sz="1200" dirty="0"/>
          </a:p>
        </p:txBody>
      </p:sp>
      <p:sp>
        <p:nvSpPr>
          <p:cNvPr id="8" name="Shape 6"/>
          <p:cNvSpPr/>
          <p:nvPr/>
        </p:nvSpPr>
        <p:spPr>
          <a:xfrm>
            <a:off x="1046480" y="5279389"/>
            <a:ext cx="2919254" cy="0"/>
          </a:xfrm>
          <a:prstGeom prst="line">
            <a:avLst/>
          </a:prstGeom>
          <a:noFill/>
          <a:ln w="12700">
            <a:solidFill>
              <a:srgbClr val="C3CFCA"/>
            </a:solidFill>
            <a:prstDash val="dash"/>
          </a:ln>
        </p:spPr>
      </p:sp>
      <p:sp>
        <p:nvSpPr>
          <p:cNvPr id="9" name="Text 7"/>
          <p:cNvSpPr/>
          <p:nvPr/>
        </p:nvSpPr>
        <p:spPr>
          <a:xfrm>
            <a:off x="1046480" y="5384799"/>
            <a:ext cx="3006831"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E5D57"/>
                </a:solidFill>
                <a:latin typeface="Be Vietnam Pro" pitchFamily="34" charset="0"/>
                <a:ea typeface="Be Vietnam Pro" pitchFamily="34" charset="-122"/>
                <a:cs typeface="Be Vietnam Pro" pitchFamily="34" charset="-120"/>
              </a:rPr>
              <a:t>Control:</a:t>
            </a:r>
            <a:r>
              <a:rPr lang="en-US" sz="1200" dirty="0">
                <a:solidFill>
                  <a:srgbClr val="4E5D57"/>
                </a:solidFill>
                <a:latin typeface="Be Vietnam Pro" pitchFamily="34" charset="0"/>
                <a:ea typeface="Be Vietnam Pro" pitchFamily="34" charset="-122"/>
                <a:cs typeface="Be Vietnam Pro" pitchFamily="34" charset="-120"/>
              </a:rPr>
              <a:t> 5 failed log-ins per 15 min, one generic error message</a:t>
            </a:r>
            <a:endParaRPr lang="en-US" sz="1200" dirty="0"/>
          </a:p>
        </p:txBody>
      </p:sp>
      <p:sp>
        <p:nvSpPr>
          <p:cNvPr id="10" name="Shape 8"/>
          <p:cNvSpPr/>
          <p:nvPr/>
        </p:nvSpPr>
        <p:spPr>
          <a:xfrm>
            <a:off x="4405789" y="1831975"/>
            <a:ext cx="3380343" cy="4210050"/>
          </a:xfrm>
          <a:prstGeom prst="roundRect">
            <a:avLst>
              <a:gd name="adj" fmla="val 3287"/>
            </a:avLst>
          </a:prstGeom>
          <a:solidFill>
            <a:srgbClr val="FBFCFB"/>
          </a:solidFill>
          <a:ln w="6350">
            <a:solidFill>
              <a:srgbClr val="C3CFCA"/>
            </a:solidFill>
            <a:prstDash val="solid"/>
          </a:ln>
        </p:spPr>
      </p:sp>
      <p:sp>
        <p:nvSpPr>
          <p:cNvPr id="11" name="Text 9"/>
          <p:cNvSpPr/>
          <p:nvPr/>
        </p:nvSpPr>
        <p:spPr>
          <a:xfrm>
            <a:off x="4636294" y="2062482"/>
            <a:ext cx="300691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3A15"/>
                </a:solidFill>
                <a:latin typeface="JetBrains Mono" pitchFamily="49" charset="0"/>
                <a:ea typeface="JetBrains Mono" pitchFamily="49" charset="-122"/>
                <a:cs typeface="JetBrains Mono" pitchFamily="49" charset="-120"/>
              </a:rPr>
              <a:t>F2 · Step 1</a:t>
            </a:r>
            <a:endParaRPr lang="en-US" sz="1200" dirty="0"/>
          </a:p>
        </p:txBody>
      </p:sp>
      <p:sp>
        <p:nvSpPr>
          <p:cNvPr id="12" name="Text 10"/>
          <p:cNvSpPr/>
          <p:nvPr/>
        </p:nvSpPr>
        <p:spPr>
          <a:xfrm>
            <a:off x="4636294" y="2390139"/>
            <a:ext cx="300691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01C"/>
                </a:solidFill>
                <a:latin typeface="Be Vietnam Pro" pitchFamily="34" charset="0"/>
                <a:ea typeface="Be Vietnam Pro" pitchFamily="34" charset="-122"/>
                <a:cs typeface="Be Vietnam Pro" pitchFamily="34" charset="-120"/>
              </a:rPr>
              <a:t>Initial assessment</a:t>
            </a:r>
            <a:endParaRPr lang="en-US" sz="1800" dirty="0"/>
          </a:p>
        </p:txBody>
      </p:sp>
      <p:sp>
        <p:nvSpPr>
          <p:cNvPr id="13" name="Text 11"/>
          <p:cNvSpPr/>
          <p:nvPr/>
        </p:nvSpPr>
        <p:spPr>
          <a:xfrm>
            <a:off x="4735100" y="2778761"/>
            <a:ext cx="2900487" cy="1945640"/>
          </a:xfrm>
          <a:prstGeom prst="rect">
            <a:avLst/>
          </a:prstGeom>
          <a:noFill/>
          <a:ln/>
        </p:spPr>
        <p:txBody>
          <a:bodyPr wrap="square" lIns="0" tIns="0" rIns="0" bIns="0" rtlCol="0" anchor="t">
            <a:normAutofit/>
          </a:bodyPr>
          <a:lstStyle/>
          <a:p>
            <a:pPr algn="l" marL="155194" indent="-155194">
              <a:lnSpc>
                <a:spcPts val="1680"/>
              </a:lnSpc>
              <a:buSzPct val="100000"/>
              <a:buChar char="•"/>
            </a:pPr>
            <a:r>
              <a:rPr lang="en-US" sz="1200" dirty="0">
                <a:solidFill>
                  <a:srgbClr val="14201C"/>
                </a:solidFill>
                <a:latin typeface="Be Vietnam Pro" pitchFamily="34" charset="0"/>
                <a:ea typeface="Be Vietnam Pro" pitchFamily="34" charset="-122"/>
                <a:cs typeface="Be Vietnam Pro" pitchFamily="34" charset="-120"/>
              </a:rPr>
              <a:t>Body metrics checked against valid ranges on the server</a:t>
            </a:r>
            <a:endParaRPr lang="en-US" sz="1200" dirty="0"/>
          </a:p>
          <a:p>
            <a:pPr algn="l" marL="155194" indent="-155194">
              <a:lnSpc>
                <a:spcPts val="1680"/>
              </a:lnSpc>
              <a:buSzPct val="100000"/>
              <a:buChar char="•"/>
            </a:pPr>
            <a:r>
              <a:rPr lang="en-US" sz="1200" dirty="0">
                <a:solidFill>
                  <a:srgbClr val="14201C"/>
                </a:solidFill>
                <a:latin typeface="Be Vietnam Pro" pitchFamily="34" charset="0"/>
                <a:ea typeface="Be Vietnam Pro" pitchFamily="34" charset="-122"/>
                <a:cs typeface="Be Vietnam Pro" pitchFamily="34" charset="-120"/>
              </a:rPr>
              <a:t>Birth year only, never the full date of birth</a:t>
            </a:r>
            <a:endParaRPr lang="en-US" sz="1200" dirty="0"/>
          </a:p>
          <a:p>
            <a:pPr algn="l" marL="155194" indent="-155194">
              <a:lnSpc>
                <a:spcPts val="1680"/>
              </a:lnSpc>
              <a:buSzPct val="100000"/>
              <a:buChar char="•"/>
            </a:pPr>
            <a:r>
              <a:rPr lang="en-US" sz="1200" dirty="0">
                <a:solidFill>
                  <a:srgbClr val="14201C"/>
                </a:solidFill>
                <a:latin typeface="Be Vietnam Pro" pitchFamily="34" charset="0"/>
                <a:ea typeface="Be Vietnam Pro" pitchFamily="34" charset="-122"/>
                <a:cs typeface="Be Vietnam Pro" pitchFamily="34" charset="-120"/>
              </a:rPr>
              <a:t>Conditions picked as tags, stored in a separate table</a:t>
            </a:r>
            <a:endParaRPr lang="en-US" sz="1200" dirty="0"/>
          </a:p>
          <a:p>
            <a:pPr algn="l" marL="155194" indent="-155194">
              <a:lnSpc>
                <a:spcPts val="1680"/>
              </a:lnSpc>
              <a:buSzPct val="100000"/>
              <a:buChar char="•"/>
            </a:pPr>
            <a:r>
              <a:rPr lang="en-US" sz="1200" dirty="0">
                <a:solidFill>
                  <a:srgbClr val="14201C"/>
                </a:solidFill>
                <a:latin typeface="Be Vietnam Pro" pitchFamily="34" charset="0"/>
                <a:ea typeface="Be Vietnam Pro" pitchFamily="34" charset="-122"/>
                <a:cs typeface="Be Vietnam Pro" pitchFamily="34" charset="-120"/>
              </a:rPr>
              <a:t>Camera fitness test counted on the phone; only reps and a form score are sent</a:t>
            </a:r>
            <a:endParaRPr lang="en-US" sz="1200" dirty="0"/>
          </a:p>
        </p:txBody>
      </p:sp>
      <p:sp>
        <p:nvSpPr>
          <p:cNvPr id="14" name="Shape 12"/>
          <p:cNvSpPr/>
          <p:nvPr/>
        </p:nvSpPr>
        <p:spPr>
          <a:xfrm>
            <a:off x="4636294" y="5279389"/>
            <a:ext cx="2919333" cy="0"/>
          </a:xfrm>
          <a:prstGeom prst="line">
            <a:avLst/>
          </a:prstGeom>
          <a:noFill/>
          <a:ln w="12700">
            <a:solidFill>
              <a:srgbClr val="C3CFCA"/>
            </a:solidFill>
            <a:prstDash val="dash"/>
          </a:ln>
        </p:spPr>
      </p:sp>
      <p:sp>
        <p:nvSpPr>
          <p:cNvPr id="15" name="Text 13"/>
          <p:cNvSpPr/>
          <p:nvPr/>
        </p:nvSpPr>
        <p:spPr>
          <a:xfrm>
            <a:off x="4636294" y="5384799"/>
            <a:ext cx="3006913"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E5D57"/>
                </a:solidFill>
                <a:latin typeface="Be Vietnam Pro" pitchFamily="34" charset="0"/>
                <a:ea typeface="Be Vietnam Pro" pitchFamily="34" charset="-122"/>
                <a:cs typeface="Be Vietnam Pro" pitchFamily="34" charset="-120"/>
              </a:rPr>
              <a:t>Control:</a:t>
            </a:r>
            <a:r>
              <a:rPr lang="en-US" sz="1200" dirty="0">
                <a:solidFill>
                  <a:srgbClr val="4E5D57"/>
                </a:solidFill>
                <a:latin typeface="Be Vietnam Pro" pitchFamily="34" charset="0"/>
                <a:ea typeface="Be Vietnam Pro" pitchFamily="34" charset="-122"/>
                <a:cs typeface="Be Vietnam Pro" pitchFamily="34" charset="-120"/>
              </a:rPr>
              <a:t> no health consent means safe mode with low-impact exercises</a:t>
            </a:r>
            <a:endParaRPr lang="en-US" sz="1200" dirty="0"/>
          </a:p>
        </p:txBody>
      </p:sp>
      <p:sp>
        <p:nvSpPr>
          <p:cNvPr id="16" name="Shape 14"/>
          <p:cNvSpPr/>
          <p:nvPr/>
        </p:nvSpPr>
        <p:spPr>
          <a:xfrm>
            <a:off x="7995682" y="1831975"/>
            <a:ext cx="3380343" cy="4210050"/>
          </a:xfrm>
          <a:prstGeom prst="roundRect">
            <a:avLst>
              <a:gd name="adj" fmla="val 3287"/>
            </a:avLst>
          </a:prstGeom>
          <a:solidFill>
            <a:srgbClr val="FBFCFB"/>
          </a:solidFill>
          <a:ln w="6350">
            <a:solidFill>
              <a:srgbClr val="C3CFCA"/>
            </a:solidFill>
            <a:prstDash val="solid"/>
          </a:ln>
        </p:spPr>
      </p:sp>
      <p:sp>
        <p:nvSpPr>
          <p:cNvPr id="17" name="Text 15"/>
          <p:cNvSpPr/>
          <p:nvPr/>
        </p:nvSpPr>
        <p:spPr>
          <a:xfrm>
            <a:off x="8226187" y="2062482"/>
            <a:ext cx="300691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3A15"/>
                </a:solidFill>
                <a:latin typeface="JetBrains Mono" pitchFamily="49" charset="0"/>
                <a:ea typeface="JetBrains Mono" pitchFamily="49" charset="-122"/>
                <a:cs typeface="JetBrains Mono" pitchFamily="49" charset="-120"/>
              </a:rPr>
              <a:t>F3 · Step 2</a:t>
            </a:r>
            <a:endParaRPr lang="en-US" sz="1200" dirty="0"/>
          </a:p>
        </p:txBody>
      </p:sp>
      <p:sp>
        <p:nvSpPr>
          <p:cNvPr id="18" name="Text 16"/>
          <p:cNvSpPr/>
          <p:nvPr/>
        </p:nvSpPr>
        <p:spPr>
          <a:xfrm>
            <a:off x="8226187" y="2390139"/>
            <a:ext cx="300691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01C"/>
                </a:solidFill>
                <a:latin typeface="Be Vietnam Pro" pitchFamily="34" charset="0"/>
                <a:ea typeface="Be Vietnam Pro" pitchFamily="34" charset="-122"/>
                <a:cs typeface="Be Vietnam Pro" pitchFamily="34" charset="-120"/>
              </a:rPr>
              <a:t>Personalized plan</a:t>
            </a:r>
            <a:endParaRPr lang="en-US" sz="1800" dirty="0"/>
          </a:p>
        </p:txBody>
      </p:sp>
      <p:sp>
        <p:nvSpPr>
          <p:cNvPr id="19" name="Text 17"/>
          <p:cNvSpPr/>
          <p:nvPr/>
        </p:nvSpPr>
        <p:spPr>
          <a:xfrm>
            <a:off x="8324993" y="2778761"/>
            <a:ext cx="2900487" cy="1732280"/>
          </a:xfrm>
          <a:prstGeom prst="rect">
            <a:avLst/>
          </a:prstGeom>
          <a:noFill/>
          <a:ln/>
        </p:spPr>
        <p:txBody>
          <a:bodyPr wrap="square" lIns="0" tIns="0" rIns="0" bIns="0" rtlCol="0" anchor="t">
            <a:normAutofit/>
          </a:bodyPr>
          <a:lstStyle/>
          <a:p>
            <a:pPr algn="l" marL="155194" indent="-155194">
              <a:lnSpc>
                <a:spcPts val="1680"/>
              </a:lnSpc>
              <a:buSzPct val="100000"/>
              <a:buChar char="•"/>
            </a:pPr>
            <a:r>
              <a:rPr lang="en-US" sz="1200" dirty="0">
                <a:solidFill>
                  <a:srgbClr val="14201C"/>
                </a:solidFill>
                <a:latin typeface="Be Vietnam Pro" pitchFamily="34" charset="0"/>
                <a:ea typeface="Be Vietnam Pro" pitchFamily="34" charset="-122"/>
                <a:cs typeface="Be Vietnam Pro" pitchFamily="34" charset="-120"/>
              </a:rPr>
              <a:t>Rules engine picks exercises from the catalog by level, goal and restriction tags</a:t>
            </a:r>
            <a:endParaRPr lang="en-US" sz="1200" dirty="0"/>
          </a:p>
          <a:p>
            <a:pPr algn="l" marL="155194" indent="-155194">
              <a:lnSpc>
                <a:spcPts val="1680"/>
              </a:lnSpc>
              <a:buSzPct val="100000"/>
              <a:buChar char="•"/>
            </a:pPr>
            <a:r>
              <a:rPr lang="en-US" sz="1200" dirty="0">
                <a:solidFill>
                  <a:srgbClr val="14201C"/>
                </a:solidFill>
                <a:latin typeface="Be Vietnam Pro" pitchFamily="34" charset="0"/>
                <a:ea typeface="Be Vietnam Pro" pitchFamily="34" charset="-122"/>
                <a:cs typeface="Be Vietnam Pro" pitchFamily="34" charset="-120"/>
              </a:rPr>
              <a:t>The LLM only writes the explanation for a plan that is already fixed</a:t>
            </a:r>
            <a:endParaRPr lang="en-US" sz="1200" dirty="0"/>
          </a:p>
          <a:p>
            <a:pPr algn="l" marL="155194" indent="-155194">
              <a:lnSpc>
                <a:spcPts val="1680"/>
              </a:lnSpc>
              <a:buSzPct val="100000"/>
              <a:buChar char="•"/>
            </a:pPr>
            <a:r>
              <a:rPr lang="en-US" sz="1200" dirty="0">
                <a:solidFill>
                  <a:srgbClr val="14201C"/>
                </a:solidFill>
                <a:latin typeface="Be Vietnam Pro" pitchFamily="34" charset="0"/>
                <a:ea typeface="Be Vietnam Pro" pitchFamily="34" charset="-122"/>
                <a:cs typeface="Be Vietnam Pro" pitchFamily="34" charset="-120"/>
              </a:rPr>
              <a:t>Output is checked: no new exercises, no changed sets or reps</a:t>
            </a:r>
            <a:endParaRPr lang="en-US" sz="1200" dirty="0"/>
          </a:p>
        </p:txBody>
      </p:sp>
      <p:sp>
        <p:nvSpPr>
          <p:cNvPr id="20" name="Shape 18"/>
          <p:cNvSpPr/>
          <p:nvPr/>
        </p:nvSpPr>
        <p:spPr>
          <a:xfrm>
            <a:off x="8226187" y="5066032"/>
            <a:ext cx="2919333" cy="0"/>
          </a:xfrm>
          <a:prstGeom prst="line">
            <a:avLst/>
          </a:prstGeom>
          <a:noFill/>
          <a:ln w="12700">
            <a:solidFill>
              <a:srgbClr val="C3CFCA"/>
            </a:solidFill>
            <a:prstDash val="dash"/>
          </a:ln>
        </p:spPr>
      </p:sp>
      <p:sp>
        <p:nvSpPr>
          <p:cNvPr id="21" name="Text 19"/>
          <p:cNvSpPr/>
          <p:nvPr/>
        </p:nvSpPr>
        <p:spPr>
          <a:xfrm>
            <a:off x="8226187" y="5171442"/>
            <a:ext cx="3006913" cy="66548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E5D57"/>
                </a:solidFill>
                <a:latin typeface="Be Vietnam Pro" pitchFamily="34" charset="0"/>
                <a:ea typeface="Be Vietnam Pro" pitchFamily="34" charset="-122"/>
                <a:cs typeface="Be Vietnam Pro" pitchFamily="34" charset="-120"/>
              </a:rPr>
              <a:t>Control:</a:t>
            </a:r>
            <a:r>
              <a:rPr lang="en-US" sz="1200" dirty="0">
                <a:solidFill>
                  <a:srgbClr val="4E5D57"/>
                </a:solidFill>
                <a:latin typeface="Be Vietnam Pro" pitchFamily="34" charset="0"/>
                <a:ea typeface="Be Vietnam Pro" pitchFamily="34" charset="-122"/>
                <a:cs typeface="Be Vietnam Pro" pitchFamily="34" charset="-120"/>
              </a:rPr>
              <a:t> the LLM never chooses exercises, so it cannot pick a dangerous one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6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3A15"/>
                </a:solidFill>
                <a:latin typeface="JetBrains Mono" pitchFamily="49" charset="0"/>
                <a:ea typeface="JetBrains Mono" pitchFamily="49" charset="-122"/>
                <a:cs typeface="JetBrains Mono" pitchFamily="49" charset="-120"/>
              </a:rPr>
              <a:t>FLOWS 4–6 · DAILY USE</a:t>
            </a:r>
            <a:endParaRPr lang="en-US" sz="1200" dirty="0"/>
          </a:p>
        </p:txBody>
      </p:sp>
      <p:sp>
        <p:nvSpPr>
          <p:cNvPr id="3" name="Text 1"/>
          <p:cNvSpPr/>
          <p:nvPr>
            <p:ph type="title"/>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01C"/>
                </a:solidFill>
                <a:latin typeface="Be Vietnam Pro" pitchFamily="34" charset="0"/>
                <a:ea typeface="Be Vietnam Pro" pitchFamily="34" charset="-122"/>
                <a:cs typeface="Be Vietnam Pro" pitchFamily="34" charset="-120"/>
              </a:rPr>
              <a:t>Camera workouts, meal logs and reminders</a:t>
            </a:r>
            <a:endParaRPr lang="en-US" sz="3200" dirty="0"/>
          </a:p>
        </p:txBody>
      </p:sp>
      <p:sp>
        <p:nvSpPr>
          <p:cNvPr id="4" name="Shape 2"/>
          <p:cNvSpPr/>
          <p:nvPr/>
        </p:nvSpPr>
        <p:spPr>
          <a:xfrm>
            <a:off x="815975" y="1831975"/>
            <a:ext cx="3380264" cy="4210050"/>
          </a:xfrm>
          <a:prstGeom prst="roundRect">
            <a:avLst>
              <a:gd name="adj" fmla="val 3287"/>
            </a:avLst>
          </a:prstGeom>
          <a:solidFill>
            <a:srgbClr val="FBFCFB"/>
          </a:solidFill>
          <a:ln w="6350">
            <a:solidFill>
              <a:srgbClr val="C3CFCA"/>
            </a:solidFill>
            <a:prstDash val="solid"/>
          </a:ln>
        </p:spPr>
      </p:sp>
      <p:sp>
        <p:nvSpPr>
          <p:cNvPr id="5" name="Text 3"/>
          <p:cNvSpPr/>
          <p:nvPr/>
        </p:nvSpPr>
        <p:spPr>
          <a:xfrm>
            <a:off x="1046480" y="2062482"/>
            <a:ext cx="300683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3A15"/>
                </a:solidFill>
                <a:latin typeface="JetBrains Mono" pitchFamily="49" charset="0"/>
                <a:ea typeface="JetBrains Mono" pitchFamily="49" charset="-122"/>
                <a:cs typeface="JetBrains Mono" pitchFamily="49" charset="-120"/>
              </a:rPr>
              <a:t>F4 · Step 3</a:t>
            </a:r>
            <a:endParaRPr lang="en-US" sz="1200" dirty="0"/>
          </a:p>
        </p:txBody>
      </p:sp>
      <p:sp>
        <p:nvSpPr>
          <p:cNvPr id="6" name="Text 4"/>
          <p:cNvSpPr/>
          <p:nvPr/>
        </p:nvSpPr>
        <p:spPr>
          <a:xfrm>
            <a:off x="1046480" y="2390139"/>
            <a:ext cx="3006831"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01C"/>
                </a:solidFill>
                <a:latin typeface="Be Vietnam Pro" pitchFamily="34" charset="0"/>
                <a:ea typeface="Be Vietnam Pro" pitchFamily="34" charset="-122"/>
                <a:cs typeface="Be Vietnam Pro" pitchFamily="34" charset="-120"/>
              </a:rPr>
              <a:t>Camera workout</a:t>
            </a:r>
            <a:endParaRPr lang="en-US" sz="1800" dirty="0"/>
          </a:p>
        </p:txBody>
      </p:sp>
      <p:sp>
        <p:nvSpPr>
          <p:cNvPr id="7" name="Text 5"/>
          <p:cNvSpPr/>
          <p:nvPr/>
        </p:nvSpPr>
        <p:spPr>
          <a:xfrm>
            <a:off x="1145286" y="2778761"/>
            <a:ext cx="2900405" cy="1518920"/>
          </a:xfrm>
          <a:prstGeom prst="rect">
            <a:avLst/>
          </a:prstGeom>
          <a:noFill/>
          <a:ln/>
        </p:spPr>
        <p:txBody>
          <a:bodyPr wrap="square" lIns="0" tIns="0" rIns="0" bIns="0" rtlCol="0" anchor="t">
            <a:normAutofit/>
          </a:bodyPr>
          <a:lstStyle/>
          <a:p>
            <a:pPr algn="l" marL="155194" indent="-155194">
              <a:lnSpc>
                <a:spcPts val="1680"/>
              </a:lnSpc>
              <a:buSzPct val="100000"/>
              <a:buChar char="•"/>
            </a:pPr>
            <a:r>
              <a:rPr lang="en-US" sz="1200" dirty="0">
                <a:solidFill>
                  <a:srgbClr val="14201C"/>
                </a:solidFill>
                <a:latin typeface="Be Vietnam Pro" pitchFamily="34" charset="0"/>
                <a:ea typeface="Be Vietnam Pro" pitchFamily="34" charset="-122"/>
                <a:cs typeface="Be Vietnam Pro" pitchFamily="34" charset="-120"/>
              </a:rPr>
              <a:t>Frame → pose model → joint angles → beep, all in RAM</a:t>
            </a:r>
            <a:endParaRPr lang="en-US" sz="1200" dirty="0"/>
          </a:p>
          <a:p>
            <a:pPr algn="l" marL="155194" indent="-155194">
              <a:lnSpc>
                <a:spcPts val="1680"/>
              </a:lnSpc>
              <a:buSzPct val="100000"/>
              <a:buChar char="•"/>
            </a:pPr>
            <a:r>
              <a:rPr lang="en-US" sz="1200" dirty="0">
                <a:solidFill>
                  <a:srgbClr val="14201C"/>
                </a:solidFill>
                <a:latin typeface="Be Vietnam Pro" pitchFamily="34" charset="0"/>
                <a:ea typeface="Be Vietnam Pro" pitchFamily="34" charset="-122"/>
                <a:cs typeface="Be Vietnam Pro" pitchFamily="34" charset="-120"/>
              </a:rPr>
              <a:t>After each set, only numbers: reps, errors per type, minutes</a:t>
            </a:r>
            <a:endParaRPr lang="en-US" sz="1200" dirty="0"/>
          </a:p>
          <a:p>
            <a:pPr algn="l" marL="155194" indent="-155194">
              <a:lnSpc>
                <a:spcPts val="1680"/>
              </a:lnSpc>
              <a:buSzPct val="100000"/>
              <a:buChar char="•"/>
            </a:pPr>
            <a:r>
              <a:rPr lang="en-US" sz="1200" dirty="0">
                <a:solidFill>
                  <a:srgbClr val="14201C"/>
                </a:solidFill>
                <a:latin typeface="Be Vietnam Pro" pitchFamily="34" charset="0"/>
                <a:ea typeface="Be Vietnam Pro" pitchFamily="34" charset="-122"/>
                <a:cs typeface="Be Vietnam Pro" pitchFamily="34" charset="-120"/>
              </a:rPr>
              <a:t>“I feel pain” stops the workout on the phone, even offline, and advises seeing a doctor</a:t>
            </a:r>
            <a:endParaRPr lang="en-US" sz="1200" dirty="0"/>
          </a:p>
        </p:txBody>
      </p:sp>
      <p:sp>
        <p:nvSpPr>
          <p:cNvPr id="8" name="Shape 6"/>
          <p:cNvSpPr/>
          <p:nvPr/>
        </p:nvSpPr>
        <p:spPr>
          <a:xfrm>
            <a:off x="1046480" y="5279389"/>
            <a:ext cx="2919254" cy="0"/>
          </a:xfrm>
          <a:prstGeom prst="line">
            <a:avLst/>
          </a:prstGeom>
          <a:noFill/>
          <a:ln w="12700">
            <a:solidFill>
              <a:srgbClr val="C3CFCA"/>
            </a:solidFill>
            <a:prstDash val="dash"/>
          </a:ln>
        </p:spPr>
      </p:sp>
      <p:sp>
        <p:nvSpPr>
          <p:cNvPr id="9" name="Text 7"/>
          <p:cNvSpPr/>
          <p:nvPr/>
        </p:nvSpPr>
        <p:spPr>
          <a:xfrm>
            <a:off x="1046480" y="5384799"/>
            <a:ext cx="3006831"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E5D57"/>
                </a:solidFill>
                <a:latin typeface="Be Vietnam Pro" pitchFamily="34" charset="0"/>
                <a:ea typeface="Be Vietnam Pro" pitchFamily="34" charset="-122"/>
                <a:cs typeface="Be Vietnam Pro" pitchFamily="34" charset="-120"/>
              </a:rPr>
              <a:t>Control:</a:t>
            </a:r>
            <a:r>
              <a:rPr lang="en-US" sz="1200" dirty="0">
                <a:solidFill>
                  <a:srgbClr val="4E5D57"/>
                </a:solidFill>
                <a:latin typeface="Be Vietnam Pro" pitchFamily="34" charset="0"/>
                <a:ea typeface="Be Vietnam Pro" pitchFamily="34" charset="-122"/>
                <a:cs typeface="Be Vietnam Pro" pitchFamily="34" charset="-120"/>
              </a:rPr>
              <a:t> the backend has no image or video endpoint at all</a:t>
            </a:r>
            <a:endParaRPr lang="en-US" sz="1200" dirty="0"/>
          </a:p>
        </p:txBody>
      </p:sp>
      <p:sp>
        <p:nvSpPr>
          <p:cNvPr id="10" name="Shape 8"/>
          <p:cNvSpPr/>
          <p:nvPr/>
        </p:nvSpPr>
        <p:spPr>
          <a:xfrm>
            <a:off x="4405789" y="1831975"/>
            <a:ext cx="3380343" cy="4210050"/>
          </a:xfrm>
          <a:prstGeom prst="roundRect">
            <a:avLst>
              <a:gd name="adj" fmla="val 3287"/>
            </a:avLst>
          </a:prstGeom>
          <a:solidFill>
            <a:srgbClr val="FBFCFB"/>
          </a:solidFill>
          <a:ln w="6350">
            <a:solidFill>
              <a:srgbClr val="C3CFCA"/>
            </a:solidFill>
            <a:prstDash val="solid"/>
          </a:ln>
        </p:spPr>
      </p:sp>
      <p:sp>
        <p:nvSpPr>
          <p:cNvPr id="11" name="Text 9"/>
          <p:cNvSpPr/>
          <p:nvPr/>
        </p:nvSpPr>
        <p:spPr>
          <a:xfrm>
            <a:off x="4636294" y="2062482"/>
            <a:ext cx="300691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3A15"/>
                </a:solidFill>
                <a:latin typeface="JetBrains Mono" pitchFamily="49" charset="0"/>
                <a:ea typeface="JetBrains Mono" pitchFamily="49" charset="-122"/>
                <a:cs typeface="JetBrains Mono" pitchFamily="49" charset="-120"/>
              </a:rPr>
              <a:t>F5 · Step 4</a:t>
            </a:r>
            <a:endParaRPr lang="en-US" sz="1200" dirty="0"/>
          </a:p>
        </p:txBody>
      </p:sp>
      <p:sp>
        <p:nvSpPr>
          <p:cNvPr id="12" name="Text 10"/>
          <p:cNvSpPr/>
          <p:nvPr/>
        </p:nvSpPr>
        <p:spPr>
          <a:xfrm>
            <a:off x="4636294" y="2390139"/>
            <a:ext cx="300691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01C"/>
                </a:solidFill>
                <a:latin typeface="Be Vietnam Pro" pitchFamily="34" charset="0"/>
                <a:ea typeface="Be Vietnam Pro" pitchFamily="34" charset="-122"/>
                <a:cs typeface="Be Vietnam Pro" pitchFamily="34" charset="-120"/>
              </a:rPr>
              <a:t>Meal log by text or voice</a:t>
            </a:r>
            <a:endParaRPr lang="en-US" sz="1800" dirty="0"/>
          </a:p>
        </p:txBody>
      </p:sp>
      <p:sp>
        <p:nvSpPr>
          <p:cNvPr id="13" name="Text 11"/>
          <p:cNvSpPr/>
          <p:nvPr/>
        </p:nvSpPr>
        <p:spPr>
          <a:xfrm>
            <a:off x="4735100" y="2778761"/>
            <a:ext cx="2900487" cy="1945640"/>
          </a:xfrm>
          <a:prstGeom prst="rect">
            <a:avLst/>
          </a:prstGeom>
          <a:noFill/>
          <a:ln/>
        </p:spPr>
        <p:txBody>
          <a:bodyPr wrap="square" lIns="0" tIns="0" rIns="0" bIns="0" rtlCol="0" anchor="t">
            <a:normAutofit/>
          </a:bodyPr>
          <a:lstStyle/>
          <a:p>
            <a:pPr algn="l" marL="155194" indent="-155194">
              <a:lnSpc>
                <a:spcPts val="1680"/>
              </a:lnSpc>
              <a:buSzPct val="100000"/>
              <a:buChar char="•"/>
            </a:pPr>
            <a:r>
              <a:rPr lang="en-US" sz="1200" dirty="0">
                <a:solidFill>
                  <a:srgbClr val="14201C"/>
                </a:solidFill>
                <a:latin typeface="Be Vietnam Pro" pitchFamily="34" charset="0"/>
                <a:ea typeface="Be Vietnam Pro" pitchFamily="34" charset="-122"/>
                <a:cs typeface="Be Vietnam Pro" pitchFamily="34" charset="-120"/>
              </a:rPr>
              <a:t>OS voice typing; the app receives text, never audio</a:t>
            </a:r>
            <a:endParaRPr lang="en-US" sz="1200" dirty="0"/>
          </a:p>
          <a:p>
            <a:pPr algn="l" marL="155194" indent="-155194">
              <a:lnSpc>
                <a:spcPts val="1680"/>
              </a:lnSpc>
              <a:buSzPct val="100000"/>
              <a:buChar char="•"/>
            </a:pPr>
            <a:r>
              <a:rPr lang="en-US" sz="1200" dirty="0">
                <a:solidFill>
                  <a:srgbClr val="14201C"/>
                </a:solidFill>
                <a:latin typeface="Be Vietnam Pro" pitchFamily="34" charset="0"/>
                <a:ea typeface="Be Vietnam Pro" pitchFamily="34" charset="-122"/>
                <a:cs typeface="Be Vietnam Pro" pitchFamily="34" charset="-120"/>
              </a:rPr>
              <a:t>Pain words get a rule-based warning instead of the LLM</a:t>
            </a:r>
            <a:endParaRPr lang="en-US" sz="1200" dirty="0"/>
          </a:p>
          <a:p>
            <a:pPr algn="l" marL="155194" indent="-155194">
              <a:lnSpc>
                <a:spcPts val="1680"/>
              </a:lnSpc>
              <a:buSzPct val="100000"/>
              <a:buChar char="•"/>
            </a:pPr>
            <a:r>
              <a:rPr lang="en-US" sz="1200" dirty="0">
                <a:solidFill>
                  <a:srgbClr val="14201C"/>
                </a:solidFill>
                <a:latin typeface="Be Vietnam Pro" pitchFamily="34" charset="0"/>
                <a:ea typeface="Be Vietnam Pro" pitchFamily="34" charset="-122"/>
                <a:cs typeface="Be Vietnam Pro" pitchFamily="34" charset="-120"/>
              </a:rPr>
              <a:t>Phone numbers and emails are stripped; the LLM returns kcal as JSON</a:t>
            </a:r>
            <a:endParaRPr lang="en-US" sz="1200" dirty="0"/>
          </a:p>
          <a:p>
            <a:pPr algn="l" marL="155194" indent="-155194">
              <a:lnSpc>
                <a:spcPts val="1680"/>
              </a:lnSpc>
              <a:buSzPct val="100000"/>
              <a:buChar char="•"/>
            </a:pPr>
            <a:r>
              <a:rPr lang="en-US" sz="1200" dirty="0">
                <a:solidFill>
                  <a:srgbClr val="14201C"/>
                </a:solidFill>
                <a:latin typeface="Be Vietnam Pro" pitchFamily="34" charset="0"/>
                <a:ea typeface="Be Vietnam Pro" pitchFamily="34" charset="-122"/>
                <a:cs typeface="Be Vietnam Pro" pitchFamily="34" charset="-120"/>
              </a:rPr>
              <a:t>Rules reject values over 3,000 kcal per meal</a:t>
            </a:r>
            <a:endParaRPr lang="en-US" sz="1200" dirty="0"/>
          </a:p>
        </p:txBody>
      </p:sp>
      <p:sp>
        <p:nvSpPr>
          <p:cNvPr id="14" name="Shape 12"/>
          <p:cNvSpPr/>
          <p:nvPr/>
        </p:nvSpPr>
        <p:spPr>
          <a:xfrm>
            <a:off x="4636294" y="5279389"/>
            <a:ext cx="2919333" cy="0"/>
          </a:xfrm>
          <a:prstGeom prst="line">
            <a:avLst/>
          </a:prstGeom>
          <a:noFill/>
          <a:ln w="12700">
            <a:solidFill>
              <a:srgbClr val="C3CFCA"/>
            </a:solidFill>
            <a:prstDash val="dash"/>
          </a:ln>
        </p:spPr>
      </p:sp>
      <p:sp>
        <p:nvSpPr>
          <p:cNvPr id="15" name="Text 13"/>
          <p:cNvSpPr/>
          <p:nvPr/>
        </p:nvSpPr>
        <p:spPr>
          <a:xfrm>
            <a:off x="4636294" y="5384799"/>
            <a:ext cx="3006913"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E5D57"/>
                </a:solidFill>
                <a:latin typeface="Be Vietnam Pro" pitchFamily="34" charset="0"/>
                <a:ea typeface="Be Vietnam Pro" pitchFamily="34" charset="-122"/>
                <a:cs typeface="Be Vietnam Pro" pitchFamily="34" charset="-120"/>
              </a:rPr>
              <a:t>Control:</a:t>
            </a:r>
            <a:r>
              <a:rPr lang="en-US" sz="1200" dirty="0">
                <a:solidFill>
                  <a:srgbClr val="4E5D57"/>
                </a:solidFill>
                <a:latin typeface="Be Vietnam Pro" pitchFamily="34" charset="0"/>
                <a:ea typeface="Be Vietnam Pro" pitchFamily="34" charset="-122"/>
                <a:cs typeface="Be Vietnam Pro" pitchFamily="34" charset="-120"/>
              </a:rPr>
              <a:t> meal text capped at 300 characters</a:t>
            </a:r>
            <a:endParaRPr lang="en-US" sz="1200" dirty="0"/>
          </a:p>
        </p:txBody>
      </p:sp>
      <p:sp>
        <p:nvSpPr>
          <p:cNvPr id="16" name="Shape 14"/>
          <p:cNvSpPr/>
          <p:nvPr/>
        </p:nvSpPr>
        <p:spPr>
          <a:xfrm>
            <a:off x="7995682" y="1831975"/>
            <a:ext cx="3380343" cy="4210050"/>
          </a:xfrm>
          <a:prstGeom prst="roundRect">
            <a:avLst>
              <a:gd name="adj" fmla="val 3287"/>
            </a:avLst>
          </a:prstGeom>
          <a:solidFill>
            <a:srgbClr val="FBFCFB"/>
          </a:solidFill>
          <a:ln w="6350">
            <a:solidFill>
              <a:srgbClr val="C3CFCA"/>
            </a:solidFill>
            <a:prstDash val="solid"/>
          </a:ln>
        </p:spPr>
      </p:sp>
      <p:sp>
        <p:nvSpPr>
          <p:cNvPr id="17" name="Text 15"/>
          <p:cNvSpPr/>
          <p:nvPr/>
        </p:nvSpPr>
        <p:spPr>
          <a:xfrm>
            <a:off x="8226187" y="2062482"/>
            <a:ext cx="300691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3A15"/>
                </a:solidFill>
                <a:latin typeface="JetBrains Mono" pitchFamily="49" charset="0"/>
                <a:ea typeface="JetBrains Mono" pitchFamily="49" charset="-122"/>
                <a:cs typeface="JetBrains Mono" pitchFamily="49" charset="-120"/>
              </a:rPr>
              <a:t>F6 · Step 5</a:t>
            </a:r>
            <a:endParaRPr lang="en-US" sz="1200" dirty="0"/>
          </a:p>
        </p:txBody>
      </p:sp>
      <p:sp>
        <p:nvSpPr>
          <p:cNvPr id="18" name="Text 16"/>
          <p:cNvSpPr/>
          <p:nvPr/>
        </p:nvSpPr>
        <p:spPr>
          <a:xfrm>
            <a:off x="8226187" y="2390139"/>
            <a:ext cx="300691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01C"/>
                </a:solidFill>
                <a:latin typeface="Be Vietnam Pro" pitchFamily="34" charset="0"/>
                <a:ea typeface="Be Vietnam Pro" pitchFamily="34" charset="-122"/>
                <a:cs typeface="Be Vietnam Pro" pitchFamily="34" charset="-120"/>
              </a:rPr>
              <a:t>Reminders</a:t>
            </a:r>
            <a:endParaRPr lang="en-US" sz="1800" dirty="0"/>
          </a:p>
        </p:txBody>
      </p:sp>
      <p:sp>
        <p:nvSpPr>
          <p:cNvPr id="19" name="Text 17"/>
          <p:cNvSpPr/>
          <p:nvPr/>
        </p:nvSpPr>
        <p:spPr>
          <a:xfrm>
            <a:off x="8324993" y="2778761"/>
            <a:ext cx="2900487" cy="1518920"/>
          </a:xfrm>
          <a:prstGeom prst="rect">
            <a:avLst/>
          </a:prstGeom>
          <a:noFill/>
          <a:ln/>
        </p:spPr>
        <p:txBody>
          <a:bodyPr wrap="square" lIns="0" tIns="0" rIns="0" bIns="0" rtlCol="0" anchor="t">
            <a:normAutofit/>
          </a:bodyPr>
          <a:lstStyle/>
          <a:p>
            <a:pPr algn="l" marL="155194" indent="-155194">
              <a:lnSpc>
                <a:spcPts val="1680"/>
              </a:lnSpc>
              <a:buSzPct val="100000"/>
              <a:buChar char="•"/>
            </a:pPr>
            <a:r>
              <a:rPr lang="en-US" sz="1200" dirty="0">
                <a:solidFill>
                  <a:srgbClr val="14201C"/>
                </a:solidFill>
                <a:latin typeface="Be Vietnam Pro" pitchFamily="34" charset="0"/>
                <a:ea typeface="Be Vietnam Pro" pitchFamily="34" charset="-122"/>
                <a:cs typeface="Be Vietnam Pro" pitchFamily="34" charset="-120"/>
              </a:rPr>
              <a:t>Workout reminders are scheduled locally on the phone</a:t>
            </a:r>
            <a:endParaRPr lang="en-US" sz="1200" dirty="0"/>
          </a:p>
          <a:p>
            <a:pPr algn="l" marL="155194" indent="-155194">
              <a:lnSpc>
                <a:spcPts val="1680"/>
              </a:lnSpc>
              <a:buSzPct val="100000"/>
              <a:buChar char="•"/>
            </a:pPr>
            <a:r>
              <a:rPr lang="en-US" sz="1200" dirty="0">
                <a:solidFill>
                  <a:srgbClr val="14201C"/>
                </a:solidFill>
                <a:latin typeface="Be Vietnam Pro" pitchFamily="34" charset="0"/>
                <a:ea typeface="Be Vietnam Pro" pitchFamily="34" charset="-122"/>
                <a:cs typeface="Be Vietnam Pro" pitchFamily="34" charset="-120"/>
              </a:rPr>
              <a:t>Server push only for streaks and the weekly review</a:t>
            </a:r>
            <a:endParaRPr lang="en-US" sz="1200" dirty="0"/>
          </a:p>
          <a:p>
            <a:pPr algn="l" marL="155194" indent="-155194">
              <a:lnSpc>
                <a:spcPts val="1680"/>
              </a:lnSpc>
              <a:buSzPct val="100000"/>
              <a:buChar char="•"/>
            </a:pPr>
            <a:r>
              <a:rPr lang="en-US" sz="1200" dirty="0">
                <a:solidFill>
                  <a:srgbClr val="14201C"/>
                </a:solidFill>
                <a:latin typeface="Be Vietnam Pro" pitchFamily="34" charset="0"/>
                <a:ea typeface="Be Vietnam Pro" pitchFamily="34" charset="-122"/>
                <a:cs typeface="Be Vietnam Pro" pitchFamily="34" charset="-120"/>
              </a:rPr>
              <a:t>Generic text such as “Time to train!”, never weight, kcal or conditions</a:t>
            </a:r>
            <a:endParaRPr lang="en-US" sz="1200" dirty="0"/>
          </a:p>
        </p:txBody>
      </p:sp>
      <p:sp>
        <p:nvSpPr>
          <p:cNvPr id="20" name="Shape 18"/>
          <p:cNvSpPr/>
          <p:nvPr/>
        </p:nvSpPr>
        <p:spPr>
          <a:xfrm>
            <a:off x="8226187" y="5279389"/>
            <a:ext cx="2919333" cy="0"/>
          </a:xfrm>
          <a:prstGeom prst="line">
            <a:avLst/>
          </a:prstGeom>
          <a:noFill/>
          <a:ln w="12700">
            <a:solidFill>
              <a:srgbClr val="C3CFCA"/>
            </a:solidFill>
            <a:prstDash val="dash"/>
          </a:ln>
        </p:spPr>
      </p:sp>
      <p:sp>
        <p:nvSpPr>
          <p:cNvPr id="21" name="Text 19"/>
          <p:cNvSpPr/>
          <p:nvPr/>
        </p:nvSpPr>
        <p:spPr>
          <a:xfrm>
            <a:off x="8226187" y="5384799"/>
            <a:ext cx="3006913"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E5D57"/>
                </a:solidFill>
                <a:latin typeface="Be Vietnam Pro" pitchFamily="34" charset="0"/>
                <a:ea typeface="Be Vietnam Pro" pitchFamily="34" charset="-122"/>
                <a:cs typeface="Be Vietnam Pro" pitchFamily="34" charset="-120"/>
              </a:rPr>
              <a:t>Control:</a:t>
            </a:r>
            <a:r>
              <a:rPr lang="en-US" sz="1200" dirty="0">
                <a:solidFill>
                  <a:srgbClr val="4E5D57"/>
                </a:solidFill>
                <a:latin typeface="Be Vietnam Pro" pitchFamily="34" charset="0"/>
                <a:ea typeface="Be Vietnam Pro" pitchFamily="34" charset="-122"/>
                <a:cs typeface="Be Vietnam Pro" pitchFamily="34" charset="-120"/>
              </a:rPr>
              <a:t> push token deleted on logout; quiet hours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6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3A15"/>
                </a:solidFill>
                <a:latin typeface="JetBrains Mono" pitchFamily="49" charset="0"/>
                <a:ea typeface="JetBrains Mono" pitchFamily="49" charset="-122"/>
                <a:cs typeface="JetBrains Mono" pitchFamily="49" charset="-120"/>
              </a:rPr>
              <a:t>FLOWS 7–9 · REVIEW &amp; RIGHTS</a:t>
            </a:r>
            <a:endParaRPr lang="en-US" sz="1200" dirty="0"/>
          </a:p>
        </p:txBody>
      </p:sp>
      <p:sp>
        <p:nvSpPr>
          <p:cNvPr id="3" name="Text 1"/>
          <p:cNvSpPr/>
          <p:nvPr>
            <p:ph type="title"/>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01C"/>
                </a:solidFill>
                <a:latin typeface="Be Vietnam Pro" pitchFamily="34" charset="0"/>
                <a:ea typeface="Be Vietnam Pro" pitchFamily="34" charset="-122"/>
                <a:cs typeface="Be Vietnam Pro" pitchFamily="34" charset="-120"/>
              </a:rPr>
              <a:t>Weekly review, streak and the user’s rights</a:t>
            </a:r>
            <a:endParaRPr lang="en-US" sz="3200" dirty="0"/>
          </a:p>
        </p:txBody>
      </p:sp>
      <p:sp>
        <p:nvSpPr>
          <p:cNvPr id="4" name="Shape 2"/>
          <p:cNvSpPr/>
          <p:nvPr/>
        </p:nvSpPr>
        <p:spPr>
          <a:xfrm>
            <a:off x="815975" y="1831975"/>
            <a:ext cx="3380264" cy="4210050"/>
          </a:xfrm>
          <a:prstGeom prst="roundRect">
            <a:avLst>
              <a:gd name="adj" fmla="val 3287"/>
            </a:avLst>
          </a:prstGeom>
          <a:solidFill>
            <a:srgbClr val="FBFCFB"/>
          </a:solidFill>
          <a:ln w="6350">
            <a:solidFill>
              <a:srgbClr val="C3CFCA"/>
            </a:solidFill>
            <a:prstDash val="solid"/>
          </a:ln>
        </p:spPr>
      </p:sp>
      <p:sp>
        <p:nvSpPr>
          <p:cNvPr id="5" name="Text 3"/>
          <p:cNvSpPr/>
          <p:nvPr/>
        </p:nvSpPr>
        <p:spPr>
          <a:xfrm>
            <a:off x="1046480" y="2062482"/>
            <a:ext cx="300683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3A15"/>
                </a:solidFill>
                <a:latin typeface="JetBrains Mono" pitchFamily="49" charset="0"/>
                <a:ea typeface="JetBrains Mono" pitchFamily="49" charset="-122"/>
                <a:cs typeface="JetBrains Mono" pitchFamily="49" charset="-120"/>
              </a:rPr>
              <a:t>F7 · Step 6</a:t>
            </a:r>
            <a:endParaRPr lang="en-US" sz="1200" dirty="0"/>
          </a:p>
        </p:txBody>
      </p:sp>
      <p:sp>
        <p:nvSpPr>
          <p:cNvPr id="6" name="Text 4"/>
          <p:cNvSpPr/>
          <p:nvPr/>
        </p:nvSpPr>
        <p:spPr>
          <a:xfrm>
            <a:off x="1046480" y="2390139"/>
            <a:ext cx="3006831"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01C"/>
                </a:solidFill>
                <a:latin typeface="Be Vietnam Pro" pitchFamily="34" charset="0"/>
                <a:ea typeface="Be Vietnam Pro" pitchFamily="34" charset="-122"/>
                <a:cs typeface="Be Vietnam Pro" pitchFamily="34" charset="-120"/>
              </a:rPr>
              <a:t>Weekly review</a:t>
            </a:r>
            <a:endParaRPr lang="en-US" sz="1800" dirty="0"/>
          </a:p>
        </p:txBody>
      </p:sp>
      <p:sp>
        <p:nvSpPr>
          <p:cNvPr id="7" name="Text 5"/>
          <p:cNvSpPr/>
          <p:nvPr/>
        </p:nvSpPr>
        <p:spPr>
          <a:xfrm>
            <a:off x="1145286" y="2778761"/>
            <a:ext cx="2900405" cy="1518920"/>
          </a:xfrm>
          <a:prstGeom prst="rect">
            <a:avLst/>
          </a:prstGeom>
          <a:noFill/>
          <a:ln/>
        </p:spPr>
        <p:txBody>
          <a:bodyPr wrap="square" lIns="0" tIns="0" rIns="0" bIns="0" rtlCol="0" anchor="t">
            <a:normAutofit/>
          </a:bodyPr>
          <a:lstStyle/>
          <a:p>
            <a:pPr algn="l" marL="155194" indent="-155194">
              <a:lnSpc>
                <a:spcPts val="1680"/>
              </a:lnSpc>
              <a:buSzPct val="100000"/>
              <a:buChar char="•"/>
            </a:pPr>
            <a:r>
              <a:rPr lang="en-US" sz="1200" dirty="0">
                <a:solidFill>
                  <a:srgbClr val="14201C"/>
                </a:solidFill>
                <a:latin typeface="Be Vietnam Pro" pitchFamily="34" charset="0"/>
                <a:ea typeface="Be Vietnam Pro" pitchFamily="34" charset="-122"/>
                <a:cs typeface="Be Vietnam Pro" pitchFamily="34" charset="-120"/>
              </a:rPr>
              <a:t>A Sunday job aggregates workouts, meals and form errors</a:t>
            </a:r>
            <a:endParaRPr lang="en-US" sz="1200" dirty="0"/>
          </a:p>
          <a:p>
            <a:pPr algn="l" marL="155194" indent="-155194">
              <a:lnSpc>
                <a:spcPts val="1680"/>
              </a:lnSpc>
              <a:buSzPct val="100000"/>
              <a:buChar char="•"/>
            </a:pPr>
            <a:r>
              <a:rPr lang="en-US" sz="1200" dirty="0">
                <a:solidFill>
                  <a:srgbClr val="14201C"/>
                </a:solidFill>
                <a:latin typeface="Be Vietnam Pro" pitchFamily="34" charset="0"/>
                <a:ea typeface="Be Vietnam Pro" pitchFamily="34" charset="-122"/>
                <a:cs typeface="Be Vietnam Pro" pitchFamily="34" charset="-120"/>
              </a:rPr>
              <a:t>Rules adjust volume: about +10% after a strong week, lighter after a pain report</a:t>
            </a:r>
            <a:endParaRPr lang="en-US" sz="1200" dirty="0"/>
          </a:p>
          <a:p>
            <a:pPr algn="l" marL="155194" indent="-155194">
              <a:lnSpc>
                <a:spcPts val="1680"/>
              </a:lnSpc>
              <a:buSzPct val="100000"/>
              <a:buChar char="•"/>
            </a:pPr>
            <a:r>
              <a:rPr lang="en-US" sz="1200" dirty="0">
                <a:solidFill>
                  <a:srgbClr val="14201C"/>
                </a:solidFill>
                <a:latin typeface="Be Vietnam Pro" pitchFamily="34" charset="0"/>
                <a:ea typeface="Be Vietnam Pro" pitchFamily="34" charset="-122"/>
                <a:cs typeface="Be Vietnam Pro" pitchFamily="34" charset="-120"/>
              </a:rPr>
              <a:t>The LLM writes the summary from aggregates only</a:t>
            </a:r>
            <a:endParaRPr lang="en-US" sz="1200" dirty="0"/>
          </a:p>
        </p:txBody>
      </p:sp>
      <p:sp>
        <p:nvSpPr>
          <p:cNvPr id="8" name="Shape 6"/>
          <p:cNvSpPr/>
          <p:nvPr/>
        </p:nvSpPr>
        <p:spPr>
          <a:xfrm>
            <a:off x="1046480" y="5279389"/>
            <a:ext cx="2919254" cy="0"/>
          </a:xfrm>
          <a:prstGeom prst="line">
            <a:avLst/>
          </a:prstGeom>
          <a:noFill/>
          <a:ln w="12700">
            <a:solidFill>
              <a:srgbClr val="C3CFCA"/>
            </a:solidFill>
            <a:prstDash val="dash"/>
          </a:ln>
        </p:spPr>
      </p:sp>
      <p:sp>
        <p:nvSpPr>
          <p:cNvPr id="9" name="Text 7"/>
          <p:cNvSpPr/>
          <p:nvPr/>
        </p:nvSpPr>
        <p:spPr>
          <a:xfrm>
            <a:off x="1046480" y="5384799"/>
            <a:ext cx="3006831"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E5D57"/>
                </a:solidFill>
                <a:latin typeface="Be Vietnam Pro" pitchFamily="34" charset="0"/>
                <a:ea typeface="Be Vietnam Pro" pitchFamily="34" charset="-122"/>
                <a:cs typeface="Be Vietnam Pro" pitchFamily="34" charset="-120"/>
              </a:rPr>
              <a:t>Control:</a:t>
            </a:r>
            <a:r>
              <a:rPr lang="en-US" sz="1200" dirty="0">
                <a:solidFill>
                  <a:srgbClr val="4E5D57"/>
                </a:solidFill>
                <a:latin typeface="Be Vietnam Pro" pitchFamily="34" charset="0"/>
                <a:ea typeface="Be Vietnam Pro" pitchFamily="34" charset="-122"/>
                <a:cs typeface="Be Vietnam Pro" pitchFamily="34" charset="-120"/>
              </a:rPr>
              <a:t> single meals and pain reports never reach the LLM</a:t>
            </a:r>
            <a:endParaRPr lang="en-US" sz="1200" dirty="0"/>
          </a:p>
        </p:txBody>
      </p:sp>
      <p:sp>
        <p:nvSpPr>
          <p:cNvPr id="10" name="Shape 8"/>
          <p:cNvSpPr/>
          <p:nvPr/>
        </p:nvSpPr>
        <p:spPr>
          <a:xfrm>
            <a:off x="4405789" y="1831975"/>
            <a:ext cx="3380343" cy="4210050"/>
          </a:xfrm>
          <a:prstGeom prst="roundRect">
            <a:avLst>
              <a:gd name="adj" fmla="val 3287"/>
            </a:avLst>
          </a:prstGeom>
          <a:solidFill>
            <a:srgbClr val="FBFCFB"/>
          </a:solidFill>
          <a:ln w="6350">
            <a:solidFill>
              <a:srgbClr val="C3CFCA"/>
            </a:solidFill>
            <a:prstDash val="solid"/>
          </a:ln>
        </p:spPr>
      </p:sp>
      <p:sp>
        <p:nvSpPr>
          <p:cNvPr id="11" name="Text 9"/>
          <p:cNvSpPr/>
          <p:nvPr/>
        </p:nvSpPr>
        <p:spPr>
          <a:xfrm>
            <a:off x="4636294" y="2062482"/>
            <a:ext cx="300691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3A15"/>
                </a:solidFill>
                <a:latin typeface="JetBrains Mono" pitchFamily="49" charset="0"/>
                <a:ea typeface="JetBrains Mono" pitchFamily="49" charset="-122"/>
                <a:cs typeface="JetBrains Mono" pitchFamily="49" charset="-120"/>
              </a:rPr>
              <a:t>F8 · Extra</a:t>
            </a:r>
            <a:endParaRPr lang="en-US" sz="1200" dirty="0"/>
          </a:p>
        </p:txBody>
      </p:sp>
      <p:sp>
        <p:nvSpPr>
          <p:cNvPr id="12" name="Text 10"/>
          <p:cNvSpPr/>
          <p:nvPr/>
        </p:nvSpPr>
        <p:spPr>
          <a:xfrm>
            <a:off x="4636294" y="2390139"/>
            <a:ext cx="300691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01C"/>
                </a:solidFill>
                <a:latin typeface="Be Vietnam Pro" pitchFamily="34" charset="0"/>
                <a:ea typeface="Be Vietnam Pro" pitchFamily="34" charset="-122"/>
                <a:cs typeface="Be Vietnam Pro" pitchFamily="34" charset="-120"/>
              </a:rPr>
              <a:t>Duolingo-style streak</a:t>
            </a:r>
            <a:endParaRPr lang="en-US" sz="1800" dirty="0"/>
          </a:p>
        </p:txBody>
      </p:sp>
      <p:sp>
        <p:nvSpPr>
          <p:cNvPr id="13" name="Text 11"/>
          <p:cNvSpPr/>
          <p:nvPr/>
        </p:nvSpPr>
        <p:spPr>
          <a:xfrm>
            <a:off x="4735100" y="2778761"/>
            <a:ext cx="2900487" cy="1305560"/>
          </a:xfrm>
          <a:prstGeom prst="rect">
            <a:avLst/>
          </a:prstGeom>
          <a:noFill/>
          <a:ln/>
        </p:spPr>
        <p:txBody>
          <a:bodyPr wrap="square" lIns="0" tIns="0" rIns="0" bIns="0" rtlCol="0" anchor="t">
            <a:normAutofit/>
          </a:bodyPr>
          <a:lstStyle/>
          <a:p>
            <a:pPr algn="l" marL="155194" indent="-155194">
              <a:lnSpc>
                <a:spcPts val="1680"/>
              </a:lnSpc>
              <a:buSzPct val="100000"/>
              <a:buChar char="•"/>
            </a:pPr>
            <a:r>
              <a:rPr lang="en-US" sz="1200" dirty="0">
                <a:solidFill>
                  <a:srgbClr val="14201C"/>
                </a:solidFill>
                <a:latin typeface="Be Vietnam Pro" pitchFamily="34" charset="0"/>
                <a:ea typeface="Be Vietnam Pro" pitchFamily="34" charset="-122"/>
                <a:cs typeface="Be Vietnam Pro" pitchFamily="34" charset="-120"/>
              </a:rPr>
              <a:t>The server counts the streak in the user’s time zone</a:t>
            </a:r>
            <a:endParaRPr lang="en-US" sz="1200" dirty="0"/>
          </a:p>
          <a:p>
            <a:pPr algn="l" marL="155194" indent="-155194">
              <a:lnSpc>
                <a:spcPts val="1680"/>
              </a:lnSpc>
              <a:buSzPct val="100000"/>
              <a:buChar char="•"/>
            </a:pPr>
            <a:r>
              <a:rPr lang="en-US" sz="1200" dirty="0">
                <a:solidFill>
                  <a:srgbClr val="14201C"/>
                </a:solidFill>
                <a:latin typeface="Be Vietnam Pro" pitchFamily="34" charset="0"/>
                <a:ea typeface="Be Vietnam Pro" pitchFamily="34" charset="-122"/>
                <a:cs typeface="Be Vietnam Pro" pitchFamily="34" charset="-120"/>
              </a:rPr>
              <a:t>Changing the phone’s clock cannot cheat it</a:t>
            </a:r>
            <a:endParaRPr lang="en-US" sz="1200" dirty="0"/>
          </a:p>
          <a:p>
            <a:pPr algn="l" marL="155194" indent="-155194">
              <a:lnSpc>
                <a:spcPts val="1680"/>
              </a:lnSpc>
              <a:buSzPct val="100000"/>
              <a:buChar char="•"/>
            </a:pPr>
            <a:r>
              <a:rPr lang="en-US" sz="1200" dirty="0">
                <a:solidFill>
                  <a:srgbClr val="14201C"/>
                </a:solidFill>
                <a:latin typeface="Be Vietnam Pro" pitchFamily="34" charset="0"/>
                <a:ea typeface="Be Vietnam Pro" pitchFamily="34" charset="-122"/>
                <a:cs typeface="Be Vietnam Pro" pitchFamily="34" charset="-120"/>
              </a:rPr>
              <a:t>Streak freezes are stored as a remaining count</a:t>
            </a:r>
            <a:endParaRPr lang="en-US" sz="1200" dirty="0"/>
          </a:p>
        </p:txBody>
      </p:sp>
      <p:sp>
        <p:nvSpPr>
          <p:cNvPr id="14" name="Shape 12"/>
          <p:cNvSpPr/>
          <p:nvPr/>
        </p:nvSpPr>
        <p:spPr>
          <a:xfrm>
            <a:off x="4636294" y="5279389"/>
            <a:ext cx="2919333" cy="0"/>
          </a:xfrm>
          <a:prstGeom prst="line">
            <a:avLst/>
          </a:prstGeom>
          <a:noFill/>
          <a:ln w="12700">
            <a:solidFill>
              <a:srgbClr val="C3CFCA"/>
            </a:solidFill>
            <a:prstDash val="dash"/>
          </a:ln>
        </p:spPr>
      </p:sp>
      <p:sp>
        <p:nvSpPr>
          <p:cNvPr id="15" name="Text 13"/>
          <p:cNvSpPr/>
          <p:nvPr/>
        </p:nvSpPr>
        <p:spPr>
          <a:xfrm>
            <a:off x="4636294" y="5384799"/>
            <a:ext cx="3006913"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E5D57"/>
                </a:solidFill>
                <a:latin typeface="Be Vietnam Pro" pitchFamily="34" charset="0"/>
                <a:ea typeface="Be Vietnam Pro" pitchFamily="34" charset="-122"/>
                <a:cs typeface="Be Vietnam Pro" pitchFamily="34" charset="-120"/>
              </a:rPr>
              <a:t>Control:</a:t>
            </a:r>
            <a:r>
              <a:rPr lang="en-US" sz="1200" dirty="0">
                <a:solidFill>
                  <a:srgbClr val="4E5D57"/>
                </a:solidFill>
                <a:latin typeface="Be Vietnam Pro" pitchFamily="34" charset="0"/>
                <a:ea typeface="Be Vietnam Pro" pitchFamily="34" charset="-122"/>
                <a:cs typeface="Be Vietnam Pro" pitchFamily="34" charset="-120"/>
              </a:rPr>
              <a:t> no public leaderboard unless the user opts in</a:t>
            </a:r>
            <a:endParaRPr lang="en-US" sz="1200" dirty="0"/>
          </a:p>
        </p:txBody>
      </p:sp>
      <p:sp>
        <p:nvSpPr>
          <p:cNvPr id="16" name="Shape 14"/>
          <p:cNvSpPr/>
          <p:nvPr/>
        </p:nvSpPr>
        <p:spPr>
          <a:xfrm>
            <a:off x="7995682" y="1831975"/>
            <a:ext cx="3380343" cy="4210050"/>
          </a:xfrm>
          <a:prstGeom prst="roundRect">
            <a:avLst>
              <a:gd name="adj" fmla="val 3287"/>
            </a:avLst>
          </a:prstGeom>
          <a:solidFill>
            <a:srgbClr val="FBFCFB"/>
          </a:solidFill>
          <a:ln w="6350">
            <a:solidFill>
              <a:srgbClr val="C3CFCA"/>
            </a:solidFill>
            <a:prstDash val="solid"/>
          </a:ln>
        </p:spPr>
      </p:sp>
      <p:sp>
        <p:nvSpPr>
          <p:cNvPr id="17" name="Text 15"/>
          <p:cNvSpPr/>
          <p:nvPr/>
        </p:nvSpPr>
        <p:spPr>
          <a:xfrm>
            <a:off x="8226187" y="2062482"/>
            <a:ext cx="300691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3A15"/>
                </a:solidFill>
                <a:latin typeface="JetBrains Mono" pitchFamily="49" charset="0"/>
                <a:ea typeface="JetBrains Mono" pitchFamily="49" charset="-122"/>
                <a:cs typeface="JetBrains Mono" pitchFamily="49" charset="-120"/>
              </a:rPr>
              <a:t>F9 · User rights</a:t>
            </a:r>
            <a:endParaRPr lang="en-US" sz="1200" dirty="0"/>
          </a:p>
        </p:txBody>
      </p:sp>
      <p:sp>
        <p:nvSpPr>
          <p:cNvPr id="18" name="Text 16"/>
          <p:cNvSpPr/>
          <p:nvPr/>
        </p:nvSpPr>
        <p:spPr>
          <a:xfrm>
            <a:off x="8226187" y="2390139"/>
            <a:ext cx="300691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01C"/>
                </a:solidFill>
                <a:latin typeface="Be Vietnam Pro" pitchFamily="34" charset="0"/>
                <a:ea typeface="Be Vietnam Pro" pitchFamily="34" charset="-122"/>
                <a:cs typeface="Be Vietnam Pro" pitchFamily="34" charset="-120"/>
              </a:rPr>
              <a:t>Export &amp; delete</a:t>
            </a:r>
            <a:endParaRPr lang="en-US" sz="1800" dirty="0"/>
          </a:p>
        </p:txBody>
      </p:sp>
      <p:sp>
        <p:nvSpPr>
          <p:cNvPr id="19" name="Text 17"/>
          <p:cNvSpPr/>
          <p:nvPr/>
        </p:nvSpPr>
        <p:spPr>
          <a:xfrm>
            <a:off x="8324993" y="2778761"/>
            <a:ext cx="2900487" cy="1518920"/>
          </a:xfrm>
          <a:prstGeom prst="rect">
            <a:avLst/>
          </a:prstGeom>
          <a:noFill/>
          <a:ln/>
        </p:spPr>
        <p:txBody>
          <a:bodyPr wrap="square" lIns="0" tIns="0" rIns="0" bIns="0" rtlCol="0" anchor="t">
            <a:normAutofit/>
          </a:bodyPr>
          <a:lstStyle/>
          <a:p>
            <a:pPr algn="l" marL="155194" indent="-155194">
              <a:lnSpc>
                <a:spcPts val="1680"/>
              </a:lnSpc>
              <a:buSzPct val="100000"/>
              <a:buChar char="•"/>
            </a:pPr>
            <a:r>
              <a:rPr lang="en-US" sz="1200" dirty="0">
                <a:solidFill>
                  <a:srgbClr val="14201C"/>
                </a:solidFill>
                <a:latin typeface="Be Vietnam Pro" pitchFamily="34" charset="0"/>
                <a:ea typeface="Be Vietnam Pro" pitchFamily="34" charset="-122"/>
                <a:cs typeface="Be Vietnam Pro" pitchFamily="34" charset="-120"/>
              </a:rPr>
              <a:t>Withdrawing health consent deletes conditions and pain data</a:t>
            </a:r>
            <a:endParaRPr lang="en-US" sz="1200" dirty="0"/>
          </a:p>
          <a:p>
            <a:pPr algn="l" marL="155194" indent="-155194">
              <a:lnSpc>
                <a:spcPts val="1680"/>
              </a:lnSpc>
              <a:buSzPct val="100000"/>
              <a:buChar char="•"/>
            </a:pPr>
            <a:r>
              <a:rPr lang="en-US" sz="1200" dirty="0">
                <a:solidFill>
                  <a:srgbClr val="14201C"/>
                </a:solidFill>
                <a:latin typeface="Be Vietnam Pro" pitchFamily="34" charset="0"/>
                <a:ea typeface="Be Vietnam Pro" pitchFamily="34" charset="-122"/>
                <a:cs typeface="Be Vietnam Pro" pitchFamily="34" charset="-120"/>
              </a:rPr>
              <a:t>Export all of one’s own data as JSON</a:t>
            </a:r>
            <a:endParaRPr lang="en-US" sz="1200" dirty="0"/>
          </a:p>
          <a:p>
            <a:pPr algn="l" marL="155194" indent="-155194">
              <a:lnSpc>
                <a:spcPts val="1680"/>
              </a:lnSpc>
              <a:buSzPct val="100000"/>
              <a:buChar char="•"/>
            </a:pPr>
            <a:r>
              <a:rPr lang="en-US" sz="1200" dirty="0">
                <a:solidFill>
                  <a:srgbClr val="14201C"/>
                </a:solidFill>
                <a:latin typeface="Be Vietnam Pro" pitchFamily="34" charset="0"/>
                <a:ea typeface="Be Vietnam Pro" pitchFamily="34" charset="-122"/>
                <a:cs typeface="Be Vietnam Pro" pitchFamily="34" charset="-120"/>
              </a:rPr>
              <a:t>Deleting the account cascades through every table and revokes tokens</a:t>
            </a:r>
            <a:endParaRPr lang="en-US" sz="1200" dirty="0"/>
          </a:p>
        </p:txBody>
      </p:sp>
      <p:sp>
        <p:nvSpPr>
          <p:cNvPr id="20" name="Shape 18"/>
          <p:cNvSpPr/>
          <p:nvPr/>
        </p:nvSpPr>
        <p:spPr>
          <a:xfrm>
            <a:off x="8226187" y="5279389"/>
            <a:ext cx="2919333" cy="0"/>
          </a:xfrm>
          <a:prstGeom prst="line">
            <a:avLst/>
          </a:prstGeom>
          <a:noFill/>
          <a:ln w="12700">
            <a:solidFill>
              <a:srgbClr val="C3CFCA"/>
            </a:solidFill>
            <a:prstDash val="dash"/>
          </a:ln>
        </p:spPr>
      </p:sp>
      <p:sp>
        <p:nvSpPr>
          <p:cNvPr id="21" name="Text 19"/>
          <p:cNvSpPr/>
          <p:nvPr/>
        </p:nvSpPr>
        <p:spPr>
          <a:xfrm>
            <a:off x="8226187" y="5384799"/>
            <a:ext cx="3006913"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E5D57"/>
                </a:solidFill>
                <a:latin typeface="Be Vietnam Pro" pitchFamily="34" charset="0"/>
                <a:ea typeface="Be Vietnam Pro" pitchFamily="34" charset="-122"/>
                <a:cs typeface="Be Vietnam Pro" pitchFamily="34" charset="-120"/>
              </a:rPr>
              <a:t>Control:</a:t>
            </a:r>
            <a:r>
              <a:rPr lang="en-US" sz="1200" dirty="0">
                <a:solidFill>
                  <a:srgbClr val="4E5D57"/>
                </a:solidFill>
                <a:latin typeface="Be Vietnam Pro" pitchFamily="34" charset="0"/>
                <a:ea typeface="Be Vietnam Pro" pitchFamily="34" charset="-122"/>
                <a:cs typeface="Be Vietnam Pro" pitchFamily="34" charset="-120"/>
              </a:rPr>
              <a:t> backups expire after 7 days, so deleted data is gone from them too</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6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3A15"/>
                </a:solidFill>
                <a:latin typeface="JetBrains Mono" pitchFamily="49" charset="0"/>
                <a:ea typeface="JetBrains Mono" pitchFamily="49" charset="-122"/>
                <a:cs typeface="JetBrains Mono" pitchFamily="49" charset="-120"/>
              </a:rPr>
              <a:t>THE LLM BOUNDARY</a:t>
            </a:r>
            <a:endParaRPr lang="en-US" sz="1200" dirty="0"/>
          </a:p>
        </p:txBody>
      </p:sp>
      <p:sp>
        <p:nvSpPr>
          <p:cNvPr id="3" name="Text 1"/>
          <p:cNvSpPr/>
          <p:nvPr>
            <p:ph type="title"/>
          </p:nvPr>
        </p:nvSpPr>
        <p:spPr>
          <a:xfrm>
            <a:off x="812800" y="1127761"/>
            <a:ext cx="11379200"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01C"/>
                </a:solidFill>
                <a:latin typeface="Be Vietnam Pro" pitchFamily="34" charset="0"/>
                <a:ea typeface="Be Vietnam Pro" pitchFamily="34" charset="-122"/>
                <a:cs typeface="Be Vietnam Pro" pitchFamily="34" charset="-120"/>
              </a:rPr>
              <a:t>What the LLM sees: bands and tags, never identity</a:t>
            </a:r>
            <a:endParaRPr lang="en-US" sz="3200" dirty="0"/>
          </a:p>
        </p:txBody>
      </p:sp>
      <p:sp>
        <p:nvSpPr>
          <p:cNvPr id="4" name="Shape 2"/>
          <p:cNvSpPr/>
          <p:nvPr/>
        </p:nvSpPr>
        <p:spPr>
          <a:xfrm>
            <a:off x="815975" y="1831975"/>
            <a:ext cx="5129530" cy="2459990"/>
          </a:xfrm>
          <a:prstGeom prst="roundRect">
            <a:avLst>
              <a:gd name="adj" fmla="val 4517"/>
            </a:avLst>
          </a:prstGeom>
          <a:solidFill>
            <a:srgbClr val="FBFCFB"/>
          </a:solidFill>
          <a:ln w="6350">
            <a:solidFill>
              <a:srgbClr val="C3CFCA"/>
            </a:solidFill>
            <a:prstDash val="solid"/>
          </a:ln>
        </p:spPr>
      </p:sp>
      <p:sp>
        <p:nvSpPr>
          <p:cNvPr id="5" name="Text 3"/>
          <p:cNvSpPr/>
          <p:nvPr/>
        </p:nvSpPr>
        <p:spPr>
          <a:xfrm>
            <a:off x="1071880" y="2087882"/>
            <a:ext cx="475625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01C"/>
                </a:solidFill>
                <a:latin typeface="Be Vietnam Pro" pitchFamily="34" charset="0"/>
                <a:ea typeface="Be Vietnam Pro" pitchFamily="34" charset="-122"/>
                <a:cs typeface="Be Vietnam Pro" pitchFamily="34" charset="-120"/>
              </a:rPr>
              <a:t>In our database</a:t>
            </a:r>
            <a:endParaRPr lang="en-US" sz="1600" dirty="0"/>
          </a:p>
        </p:txBody>
      </p:sp>
      <p:sp>
        <p:nvSpPr>
          <p:cNvPr id="6" name="Text 4"/>
          <p:cNvSpPr/>
          <p:nvPr/>
        </p:nvSpPr>
        <p:spPr>
          <a:xfrm>
            <a:off x="1071880" y="2458721"/>
            <a:ext cx="475625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01C"/>
                </a:solidFill>
                <a:latin typeface="JetBrains Mono" pitchFamily="49" charset="0"/>
                <a:ea typeface="JetBrains Mono" pitchFamily="49" charset="-122"/>
                <a:cs typeface="JetBrains Mono" pitchFamily="49" charset="-120"/>
              </a:rPr>
              <a:t>user_id: 7f3c…a91e</a:t>
            </a:r>
            <a:endParaRPr lang="en-US" sz="1300" dirty="0"/>
          </a:p>
        </p:txBody>
      </p:sp>
      <p:sp>
        <p:nvSpPr>
          <p:cNvPr id="7" name="Text 5"/>
          <p:cNvSpPr/>
          <p:nvPr/>
        </p:nvSpPr>
        <p:spPr>
          <a:xfrm>
            <a:off x="1071880" y="2727961"/>
            <a:ext cx="475625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02A45"/>
                </a:solidFill>
                <a:latin typeface="JetBrains Mono" pitchFamily="49" charset="0"/>
                <a:ea typeface="JetBrains Mono" pitchFamily="49" charset="-122"/>
                <a:cs typeface="JetBrains Mono" pitchFamily="49" charset="-120"/>
              </a:rPr>
              <a:t>email: an.nguyen@…</a:t>
            </a:r>
            <a:endParaRPr lang="en-US" sz="1300" dirty="0"/>
          </a:p>
        </p:txBody>
      </p:sp>
      <p:sp>
        <p:nvSpPr>
          <p:cNvPr id="8" name="Text 6"/>
          <p:cNvSpPr/>
          <p:nvPr/>
        </p:nvSpPr>
        <p:spPr>
          <a:xfrm>
            <a:off x="1071880" y="2997200"/>
            <a:ext cx="475625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01C"/>
                </a:solidFill>
                <a:latin typeface="JetBrains Mono" pitchFamily="49" charset="0"/>
                <a:ea typeface="JetBrains Mono" pitchFamily="49" charset="-122"/>
                <a:cs typeface="JetBrains Mono" pitchFamily="49" charset="-120"/>
              </a:rPr>
              <a:t>birth_year: 2005 · sex: F</a:t>
            </a:r>
            <a:endParaRPr lang="en-US" sz="1300" dirty="0"/>
          </a:p>
        </p:txBody>
      </p:sp>
      <p:sp>
        <p:nvSpPr>
          <p:cNvPr id="9" name="Text 7"/>
          <p:cNvSpPr/>
          <p:nvPr/>
        </p:nvSpPr>
        <p:spPr>
          <a:xfrm>
            <a:off x="1071880" y="3266439"/>
            <a:ext cx="475625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01C"/>
                </a:solidFill>
                <a:latin typeface="JetBrains Mono" pitchFamily="49" charset="0"/>
                <a:ea typeface="JetBrains Mono" pitchFamily="49" charset="-122"/>
                <a:cs typeface="JetBrains Mono" pitchFamily="49" charset="-120"/>
              </a:rPr>
              <a:t>height: 158 · weight: 61</a:t>
            </a:r>
            <a:endParaRPr lang="en-US" sz="1300" dirty="0"/>
          </a:p>
        </p:txBody>
      </p:sp>
      <p:sp>
        <p:nvSpPr>
          <p:cNvPr id="10" name="Text 8"/>
          <p:cNvSpPr/>
          <p:nvPr/>
        </p:nvSpPr>
        <p:spPr>
          <a:xfrm>
            <a:off x="1071880" y="3535682"/>
            <a:ext cx="475625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02A45"/>
                </a:solidFill>
                <a:latin typeface="JetBrains Mono" pitchFamily="49" charset="0"/>
                <a:ea typeface="JetBrains Mono" pitchFamily="49" charset="-122"/>
                <a:cs typeface="JetBrains Mono" pitchFamily="49" charset="-120"/>
              </a:rPr>
              <a:t>condition: L4-L5 disc herniation</a:t>
            </a:r>
            <a:endParaRPr lang="en-US" sz="1300" dirty="0"/>
          </a:p>
        </p:txBody>
      </p:sp>
      <p:sp>
        <p:nvSpPr>
          <p:cNvPr id="11" name="Text 9"/>
          <p:cNvSpPr/>
          <p:nvPr/>
        </p:nvSpPr>
        <p:spPr>
          <a:xfrm>
            <a:off x="1071880" y="3804921"/>
            <a:ext cx="475625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01C"/>
                </a:solidFill>
                <a:latin typeface="JetBrains Mono" pitchFamily="49" charset="0"/>
                <a:ea typeface="JetBrains Mono" pitchFamily="49" charset="-122"/>
                <a:cs typeface="JetBrains Mono" pitchFamily="49" charset="-120"/>
              </a:rPr>
              <a:t>goal: lose_fat · 3 sessions/week</a:t>
            </a:r>
            <a:endParaRPr lang="en-US" sz="1300" dirty="0"/>
          </a:p>
        </p:txBody>
      </p:sp>
      <p:sp>
        <p:nvSpPr>
          <p:cNvPr id="12" name="Shape 10"/>
          <p:cNvSpPr/>
          <p:nvPr/>
        </p:nvSpPr>
        <p:spPr>
          <a:xfrm>
            <a:off x="6253480" y="1828800"/>
            <a:ext cx="5125720" cy="2466340"/>
          </a:xfrm>
          <a:prstGeom prst="roundRect">
            <a:avLst>
              <a:gd name="adj" fmla="val 4634"/>
            </a:avLst>
          </a:prstGeom>
          <a:solidFill>
            <a:srgbClr val="14201C"/>
          </a:solidFill>
          <a:ln/>
        </p:spPr>
      </p:sp>
      <p:sp>
        <p:nvSpPr>
          <p:cNvPr id="13" name="Text 11"/>
          <p:cNvSpPr/>
          <p:nvPr/>
        </p:nvSpPr>
        <p:spPr>
          <a:xfrm>
            <a:off x="6507480" y="2082800"/>
            <a:ext cx="475625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6F5"/>
                </a:solidFill>
                <a:latin typeface="Be Vietnam Pro" pitchFamily="34" charset="0"/>
                <a:ea typeface="Be Vietnam Pro" pitchFamily="34" charset="-122"/>
                <a:cs typeface="Be Vietnam Pro" pitchFamily="34" charset="-120"/>
              </a:rPr>
              <a:t>Prompt sent to the LLM</a:t>
            </a:r>
            <a:endParaRPr lang="en-US" sz="1600" dirty="0"/>
          </a:p>
        </p:txBody>
      </p:sp>
      <p:sp>
        <p:nvSpPr>
          <p:cNvPr id="14" name="Text 12"/>
          <p:cNvSpPr/>
          <p:nvPr/>
        </p:nvSpPr>
        <p:spPr>
          <a:xfrm>
            <a:off x="6507480" y="2453639"/>
            <a:ext cx="475625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6EEEB"/>
                </a:solidFill>
                <a:latin typeface="JetBrains Mono" pitchFamily="49" charset="0"/>
                <a:ea typeface="JetBrains Mono" pitchFamily="49" charset="-122"/>
                <a:cs typeface="JetBrains Mono" pitchFamily="49" charset="-120"/>
              </a:rPr>
              <a:t>age_band: "20-24"</a:t>
            </a:r>
            <a:endParaRPr lang="en-US" sz="1300" dirty="0"/>
          </a:p>
        </p:txBody>
      </p:sp>
      <p:sp>
        <p:nvSpPr>
          <p:cNvPr id="15" name="Text 13"/>
          <p:cNvSpPr/>
          <p:nvPr/>
        </p:nvSpPr>
        <p:spPr>
          <a:xfrm>
            <a:off x="6507480" y="2722882"/>
            <a:ext cx="475625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6EEEB"/>
                </a:solidFill>
                <a:latin typeface="JetBrains Mono" pitchFamily="49" charset="0"/>
                <a:ea typeface="JetBrains Mono" pitchFamily="49" charset="-122"/>
                <a:cs typeface="JetBrains Mono" pitchFamily="49" charset="-120"/>
              </a:rPr>
              <a:t>bmi_band: "normal"</a:t>
            </a:r>
            <a:endParaRPr lang="en-US" sz="1300" dirty="0"/>
          </a:p>
        </p:txBody>
      </p:sp>
      <p:sp>
        <p:nvSpPr>
          <p:cNvPr id="16" name="Text 14"/>
          <p:cNvSpPr/>
          <p:nvPr/>
        </p:nvSpPr>
        <p:spPr>
          <a:xfrm>
            <a:off x="6507480" y="2992121"/>
            <a:ext cx="475625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6EEEB"/>
                </a:solidFill>
                <a:latin typeface="JetBrains Mono" pitchFamily="49" charset="0"/>
                <a:ea typeface="JetBrains Mono" pitchFamily="49" charset="-122"/>
                <a:cs typeface="JetBrains Mono" pitchFamily="49" charset="-120"/>
              </a:rPr>
              <a:t>goal: "lose_fat"</a:t>
            </a:r>
            <a:endParaRPr lang="en-US" sz="1300" dirty="0"/>
          </a:p>
        </p:txBody>
      </p:sp>
      <p:sp>
        <p:nvSpPr>
          <p:cNvPr id="17" name="Text 15"/>
          <p:cNvSpPr/>
          <p:nvPr/>
        </p:nvSpPr>
        <p:spPr>
          <a:xfrm>
            <a:off x="6507480" y="3261361"/>
            <a:ext cx="475625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FD3AB"/>
                </a:solidFill>
                <a:latin typeface="JetBrains Mono" pitchFamily="49" charset="0"/>
                <a:ea typeface="JetBrains Mono" pitchFamily="49" charset="-122"/>
                <a:cs typeface="JetBrains Mono" pitchFamily="49" charset="-120"/>
              </a:rPr>
              <a:t>avoid_tags: ["spinal_load"]</a:t>
            </a:r>
            <a:endParaRPr lang="en-US" sz="1300" dirty="0"/>
          </a:p>
        </p:txBody>
      </p:sp>
      <p:sp>
        <p:nvSpPr>
          <p:cNvPr id="18" name="Text 16"/>
          <p:cNvSpPr/>
          <p:nvPr/>
        </p:nvSpPr>
        <p:spPr>
          <a:xfrm>
            <a:off x="6507480" y="3530600"/>
            <a:ext cx="475625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6EEEB"/>
                </a:solidFill>
                <a:latin typeface="JetBrains Mono" pitchFamily="49" charset="0"/>
                <a:ea typeface="JetBrains Mono" pitchFamily="49" charset="-122"/>
                <a:cs typeface="JetBrains Mono" pitchFamily="49" charset="-120"/>
              </a:rPr>
              <a:t>plan: glute_bridge 3×12, wall_sit 3×30s</a:t>
            </a:r>
            <a:endParaRPr lang="en-US" sz="1300" dirty="0"/>
          </a:p>
        </p:txBody>
      </p:sp>
      <p:sp>
        <p:nvSpPr>
          <p:cNvPr id="19" name="Text 17"/>
          <p:cNvSpPr/>
          <p:nvPr/>
        </p:nvSpPr>
        <p:spPr>
          <a:xfrm>
            <a:off x="6507480" y="3799839"/>
            <a:ext cx="475625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F8A5C"/>
                </a:solidFill>
                <a:latin typeface="JetBrains Mono" pitchFamily="49" charset="0"/>
                <a:ea typeface="JetBrains Mono" pitchFamily="49" charset="-122"/>
                <a:cs typeface="JetBrains Mono" pitchFamily="49" charset="-120"/>
              </a:rPr>
              <a:t>task: "explain, do not change"</a:t>
            </a:r>
            <a:endParaRPr lang="en-US" sz="1300" dirty="0"/>
          </a:p>
        </p:txBody>
      </p:sp>
      <p:sp>
        <p:nvSpPr>
          <p:cNvPr id="20" name="Text 18"/>
          <p:cNvSpPr/>
          <p:nvPr/>
        </p:nvSpPr>
        <p:spPr>
          <a:xfrm>
            <a:off x="812800" y="4549142"/>
            <a:ext cx="10883392" cy="54102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E5D57"/>
                </a:solidFill>
                <a:latin typeface="Be Vietnam Pro" pitchFamily="34" charset="0"/>
                <a:ea typeface="Be Vietnam Pro" pitchFamily="34" charset="-122"/>
                <a:cs typeface="Be Vietnam Pro" pitchFamily="34" charset="-120"/>
              </a:rPr>
              <a:t>The API key stays on our server, and LLM output is checked against the catalog and kcal ranges. We choose a plan that does not train on our data; some free plans may use prompts to improve the product.</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4EBE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3A15"/>
                </a:solidFill>
                <a:latin typeface="JetBrains Mono" pitchFamily="49" charset="0"/>
                <a:ea typeface="JetBrains Mono" pitchFamily="49" charset="-122"/>
                <a:cs typeface="JetBrains Mono" pitchFamily="49" charset="-120"/>
              </a:rPr>
              <a:t>SECURITY CONTROLS</a:t>
            </a:r>
            <a:endParaRPr lang="en-US" sz="1200" dirty="0"/>
          </a:p>
        </p:txBody>
      </p:sp>
      <p:sp>
        <p:nvSpPr>
          <p:cNvPr id="3" name="Text 1"/>
          <p:cNvSpPr/>
          <p:nvPr>
            <p:ph type="title"/>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01C"/>
                </a:solidFill>
                <a:latin typeface="Be Vietnam Pro" pitchFamily="34" charset="0"/>
                <a:ea typeface="Be Vietnam Pro" pitchFamily="34" charset="-122"/>
                <a:cs typeface="Be Vietnam Pro" pitchFamily="34" charset="-120"/>
              </a:rPr>
              <a:t>Eight controls, sized for a small app</a:t>
            </a:r>
            <a:endParaRPr lang="en-US" sz="3200" dirty="0"/>
          </a:p>
        </p:txBody>
      </p:sp>
      <p:sp>
        <p:nvSpPr>
          <p:cNvPr id="4" name="Shape 2"/>
          <p:cNvSpPr/>
          <p:nvPr/>
        </p:nvSpPr>
        <p:spPr>
          <a:xfrm>
            <a:off x="812800" y="1828800"/>
            <a:ext cx="2527300" cy="1518920"/>
          </a:xfrm>
          <a:prstGeom prst="roundRect">
            <a:avLst>
              <a:gd name="adj" fmla="val 6689"/>
            </a:avLst>
          </a:prstGeom>
          <a:solidFill>
            <a:srgbClr val="FBFCFB"/>
          </a:solidFill>
          <a:ln/>
        </p:spPr>
      </p:sp>
      <p:pic>
        <p:nvPicPr>
          <p:cNvPr id="5" name="Image 0" descr="Lock">    </p:cNvPr>
          <p:cNvPicPr>
            <a:picLocks noChangeAspect="1"/>
          </p:cNvPicPr>
          <p:nvPr/>
        </p:nvPicPr>
        <p:blipFill>
          <a:blip r:embed="rId1"/>
          <a:srcRect l="0" r="0" t="0" b="0"/>
          <a:stretch/>
        </p:blipFill>
        <p:spPr>
          <a:xfrm>
            <a:off x="1016000" y="2032000"/>
            <a:ext cx="304800" cy="304800"/>
          </a:xfrm>
          <a:prstGeom prst="rect">
            <a:avLst/>
          </a:prstGeom>
        </p:spPr>
      </p:pic>
      <p:sp>
        <p:nvSpPr>
          <p:cNvPr id="6" name="Text 3"/>
          <p:cNvSpPr/>
          <p:nvPr/>
        </p:nvSpPr>
        <p:spPr>
          <a:xfrm>
            <a:off x="1016000" y="2413000"/>
            <a:ext cx="218452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01C"/>
                </a:solidFill>
                <a:latin typeface="Be Vietnam Pro" pitchFamily="34" charset="0"/>
                <a:ea typeface="Be Vietnam Pro" pitchFamily="34" charset="-122"/>
                <a:cs typeface="Be Vietnam Pro" pitchFamily="34" charset="-120"/>
              </a:rPr>
              <a:t>HTTPS everywhere</a:t>
            </a:r>
            <a:endParaRPr lang="en-US" sz="1500" dirty="0"/>
          </a:p>
        </p:txBody>
      </p:sp>
      <p:sp>
        <p:nvSpPr>
          <p:cNvPr id="7" name="Text 4"/>
          <p:cNvSpPr/>
          <p:nvPr/>
        </p:nvSpPr>
        <p:spPr>
          <a:xfrm>
            <a:off x="1016000" y="2717800"/>
            <a:ext cx="218452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E5D57"/>
                </a:solidFill>
                <a:latin typeface="Be Vietnam Pro" pitchFamily="34" charset="0"/>
                <a:ea typeface="Be Vietnam Pro" pitchFamily="34" charset="-122"/>
                <a:cs typeface="Be Vietnam Pro" pitchFamily="34" charset="-120"/>
              </a:rPr>
              <a:t>The database is never open to the internet</a:t>
            </a:r>
            <a:endParaRPr lang="en-US" sz="1200" dirty="0"/>
          </a:p>
        </p:txBody>
      </p:sp>
      <p:sp>
        <p:nvSpPr>
          <p:cNvPr id="8" name="Shape 5"/>
          <p:cNvSpPr/>
          <p:nvPr/>
        </p:nvSpPr>
        <p:spPr>
          <a:xfrm>
            <a:off x="3492500" y="1828800"/>
            <a:ext cx="2527300" cy="1518920"/>
          </a:xfrm>
          <a:prstGeom prst="roundRect">
            <a:avLst>
              <a:gd name="adj" fmla="val 6689"/>
            </a:avLst>
          </a:prstGeom>
          <a:solidFill>
            <a:srgbClr val="FBFCFB"/>
          </a:solidFill>
          <a:ln/>
        </p:spPr>
      </p:sp>
      <p:pic>
        <p:nvPicPr>
          <p:cNvPr id="9" name="Image 1" descr="Database">    </p:cNvPr>
          <p:cNvPicPr>
            <a:picLocks noChangeAspect="1"/>
          </p:cNvPicPr>
          <p:nvPr/>
        </p:nvPicPr>
        <p:blipFill>
          <a:blip r:embed="rId2"/>
          <a:srcRect l="0" r="0" t="0" b="0"/>
          <a:stretch/>
        </p:blipFill>
        <p:spPr>
          <a:xfrm>
            <a:off x="3695700" y="2032000"/>
            <a:ext cx="304800" cy="304800"/>
          </a:xfrm>
          <a:prstGeom prst="rect">
            <a:avLst/>
          </a:prstGeom>
        </p:spPr>
      </p:pic>
      <p:sp>
        <p:nvSpPr>
          <p:cNvPr id="10" name="Text 6"/>
          <p:cNvSpPr/>
          <p:nvPr/>
        </p:nvSpPr>
        <p:spPr>
          <a:xfrm>
            <a:off x="3695700" y="2413000"/>
            <a:ext cx="218452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01C"/>
                </a:solidFill>
                <a:latin typeface="Be Vietnam Pro" pitchFamily="34" charset="0"/>
                <a:ea typeface="Be Vietnam Pro" pitchFamily="34" charset="-122"/>
                <a:cs typeface="Be Vietnam Pro" pitchFamily="34" charset="-120"/>
              </a:rPr>
              <a:t>Backend only</a:t>
            </a:r>
            <a:endParaRPr lang="en-US" sz="1500" dirty="0"/>
          </a:p>
        </p:txBody>
      </p:sp>
      <p:sp>
        <p:nvSpPr>
          <p:cNvPr id="11" name="Text 7"/>
          <p:cNvSpPr/>
          <p:nvPr/>
        </p:nvSpPr>
        <p:spPr>
          <a:xfrm>
            <a:off x="3695700" y="2717800"/>
            <a:ext cx="218452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E5D57"/>
                </a:solidFill>
                <a:latin typeface="Be Vietnam Pro" pitchFamily="34" charset="0"/>
                <a:ea typeface="Be Vietnam Pro" pitchFamily="34" charset="-122"/>
                <a:cs typeface="Be Vietnam Pro" pitchFamily="34" charset="-120"/>
              </a:rPr>
              <a:t>The app never queries the database directly</a:t>
            </a:r>
            <a:endParaRPr lang="en-US" sz="1200" dirty="0"/>
          </a:p>
        </p:txBody>
      </p:sp>
      <p:sp>
        <p:nvSpPr>
          <p:cNvPr id="12" name="Shape 8"/>
          <p:cNvSpPr/>
          <p:nvPr/>
        </p:nvSpPr>
        <p:spPr>
          <a:xfrm>
            <a:off x="6172200" y="1828800"/>
            <a:ext cx="2527300" cy="1518920"/>
          </a:xfrm>
          <a:prstGeom prst="roundRect">
            <a:avLst>
              <a:gd name="adj" fmla="val 6689"/>
            </a:avLst>
          </a:prstGeom>
          <a:solidFill>
            <a:srgbClr val="FBFCFB"/>
          </a:solidFill>
          <a:ln/>
        </p:spPr>
      </p:sp>
      <p:pic>
        <p:nvPicPr>
          <p:cNvPr id="13" name="Image 2" descr="Users">    </p:cNvPr>
          <p:cNvPicPr>
            <a:picLocks noChangeAspect="1"/>
          </p:cNvPicPr>
          <p:nvPr/>
        </p:nvPicPr>
        <p:blipFill>
          <a:blip r:embed="rId3"/>
          <a:srcRect l="0" r="0" t="0" b="0"/>
          <a:stretch/>
        </p:blipFill>
        <p:spPr>
          <a:xfrm>
            <a:off x="6375400" y="2032000"/>
            <a:ext cx="304800" cy="304800"/>
          </a:xfrm>
          <a:prstGeom prst="rect">
            <a:avLst/>
          </a:prstGeom>
        </p:spPr>
      </p:pic>
      <p:sp>
        <p:nvSpPr>
          <p:cNvPr id="14" name="Text 9"/>
          <p:cNvSpPr/>
          <p:nvPr/>
        </p:nvSpPr>
        <p:spPr>
          <a:xfrm>
            <a:off x="6375400" y="2413000"/>
            <a:ext cx="218452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01C"/>
                </a:solidFill>
                <a:latin typeface="Be Vietnam Pro" pitchFamily="34" charset="0"/>
                <a:ea typeface="Be Vietnam Pro" pitchFamily="34" charset="-122"/>
                <a:cs typeface="Be Vietnam Pro" pitchFamily="34" charset="-120"/>
              </a:rPr>
              <a:t>Own rows only</a:t>
            </a:r>
            <a:endParaRPr lang="en-US" sz="1500" dirty="0"/>
          </a:p>
        </p:txBody>
      </p:sp>
      <p:sp>
        <p:nvSpPr>
          <p:cNvPr id="15" name="Text 10"/>
          <p:cNvSpPr/>
          <p:nvPr/>
        </p:nvSpPr>
        <p:spPr>
          <a:xfrm>
            <a:off x="6375400" y="2717800"/>
            <a:ext cx="218452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E5D57"/>
                </a:solidFill>
                <a:latin typeface="Be Vietnam Pro" pitchFamily="34" charset="0"/>
                <a:ea typeface="Be Vietnam Pro" pitchFamily="34" charset="-122"/>
                <a:cs typeface="Be Vietnam Pro" pitchFamily="34" charset="-120"/>
              </a:rPr>
              <a:t>Every query filters on the logged-in user ID</a:t>
            </a:r>
            <a:endParaRPr lang="en-US" sz="1200" dirty="0"/>
          </a:p>
        </p:txBody>
      </p:sp>
      <p:sp>
        <p:nvSpPr>
          <p:cNvPr id="16" name="Shape 11"/>
          <p:cNvSpPr/>
          <p:nvPr/>
        </p:nvSpPr>
        <p:spPr>
          <a:xfrm>
            <a:off x="8851900" y="1828800"/>
            <a:ext cx="2527300" cy="1518920"/>
          </a:xfrm>
          <a:prstGeom prst="roundRect">
            <a:avLst>
              <a:gd name="adj" fmla="val 6689"/>
            </a:avLst>
          </a:prstGeom>
          <a:solidFill>
            <a:srgbClr val="FBFCFB"/>
          </a:solidFill>
          <a:ln/>
        </p:spPr>
      </p:sp>
      <p:pic>
        <p:nvPicPr>
          <p:cNvPr id="17" name="Image 3" descr="Key">    </p:cNvPr>
          <p:cNvPicPr>
            <a:picLocks noChangeAspect="1"/>
          </p:cNvPicPr>
          <p:nvPr/>
        </p:nvPicPr>
        <p:blipFill>
          <a:blip r:embed="rId4"/>
          <a:srcRect l="0" r="0" t="0" b="0"/>
          <a:stretch/>
        </p:blipFill>
        <p:spPr>
          <a:xfrm>
            <a:off x="9055100" y="2032000"/>
            <a:ext cx="304800" cy="304800"/>
          </a:xfrm>
          <a:prstGeom prst="rect">
            <a:avLst/>
          </a:prstGeom>
        </p:spPr>
      </p:pic>
      <p:sp>
        <p:nvSpPr>
          <p:cNvPr id="18" name="Text 12"/>
          <p:cNvSpPr/>
          <p:nvPr/>
        </p:nvSpPr>
        <p:spPr>
          <a:xfrm>
            <a:off x="9055100" y="2413000"/>
            <a:ext cx="218452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01C"/>
                </a:solidFill>
                <a:latin typeface="Be Vietnam Pro" pitchFamily="34" charset="0"/>
                <a:ea typeface="Be Vietnam Pro" pitchFamily="34" charset="-122"/>
                <a:cs typeface="Be Vietnam Pro" pitchFamily="34" charset="-120"/>
              </a:rPr>
              <a:t>Least privilege</a:t>
            </a:r>
            <a:endParaRPr lang="en-US" sz="1500" dirty="0"/>
          </a:p>
        </p:txBody>
      </p:sp>
      <p:sp>
        <p:nvSpPr>
          <p:cNvPr id="19" name="Text 13"/>
          <p:cNvSpPr/>
          <p:nvPr/>
        </p:nvSpPr>
        <p:spPr>
          <a:xfrm>
            <a:off x="9055100" y="2717800"/>
            <a:ext cx="218452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E5D57"/>
                </a:solidFill>
                <a:latin typeface="Be Vietnam Pro" pitchFamily="34" charset="0"/>
                <a:ea typeface="Be Vietnam Pro" pitchFamily="34" charset="-122"/>
                <a:cs typeface="Be Vietnam Pro" pitchFamily="34" charset="-120"/>
              </a:rPr>
              <a:t>A dedicated DB user, never root or admin</a:t>
            </a:r>
            <a:endParaRPr lang="en-US" sz="1200" dirty="0"/>
          </a:p>
        </p:txBody>
      </p:sp>
      <p:sp>
        <p:nvSpPr>
          <p:cNvPr id="20" name="Shape 14"/>
          <p:cNvSpPr/>
          <p:nvPr/>
        </p:nvSpPr>
        <p:spPr>
          <a:xfrm>
            <a:off x="812800" y="3500121"/>
            <a:ext cx="2527300" cy="1732280"/>
          </a:xfrm>
          <a:prstGeom prst="roundRect">
            <a:avLst>
              <a:gd name="adj" fmla="val 5865"/>
            </a:avLst>
          </a:prstGeom>
          <a:solidFill>
            <a:srgbClr val="FBFCFB"/>
          </a:solidFill>
          <a:ln/>
        </p:spPr>
      </p:sp>
      <p:pic>
        <p:nvPicPr>
          <p:cNvPr id="21" name="Image 4" descr="Code">    </p:cNvPr>
          <p:cNvPicPr>
            <a:picLocks noChangeAspect="1"/>
          </p:cNvPicPr>
          <p:nvPr/>
        </p:nvPicPr>
        <p:blipFill>
          <a:blip r:embed="rId5"/>
          <a:srcRect l="0" r="0" t="0" b="0"/>
          <a:stretch/>
        </p:blipFill>
        <p:spPr>
          <a:xfrm>
            <a:off x="1016000" y="3703321"/>
            <a:ext cx="304800" cy="304800"/>
          </a:xfrm>
          <a:prstGeom prst="rect">
            <a:avLst/>
          </a:prstGeom>
        </p:spPr>
      </p:pic>
      <p:sp>
        <p:nvSpPr>
          <p:cNvPr id="22" name="Text 15"/>
          <p:cNvSpPr/>
          <p:nvPr/>
        </p:nvSpPr>
        <p:spPr>
          <a:xfrm>
            <a:off x="1016000" y="4084321"/>
            <a:ext cx="218452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01C"/>
                </a:solidFill>
                <a:latin typeface="Be Vietnam Pro" pitchFamily="34" charset="0"/>
                <a:ea typeface="Be Vietnam Pro" pitchFamily="34" charset="-122"/>
                <a:cs typeface="Be Vietnam Pro" pitchFamily="34" charset="-120"/>
              </a:rPr>
              <a:t>No injection</a:t>
            </a:r>
            <a:endParaRPr lang="en-US" sz="1500" dirty="0"/>
          </a:p>
        </p:txBody>
      </p:sp>
      <p:sp>
        <p:nvSpPr>
          <p:cNvPr id="23" name="Text 16"/>
          <p:cNvSpPr/>
          <p:nvPr/>
        </p:nvSpPr>
        <p:spPr>
          <a:xfrm>
            <a:off x="1016000" y="4389121"/>
            <a:ext cx="2184527"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E5D57"/>
                </a:solidFill>
                <a:latin typeface="Be Vietnam Pro" pitchFamily="34" charset="0"/>
                <a:ea typeface="Be Vietnam Pro" pitchFamily="34" charset="-122"/>
                <a:cs typeface="Be Vietnam Pro" pitchFamily="34" charset="-120"/>
              </a:rPr>
              <a:t>ORM or parameterized queries, server-side validation</a:t>
            </a:r>
            <a:endParaRPr lang="en-US" sz="1200" dirty="0"/>
          </a:p>
        </p:txBody>
      </p:sp>
      <p:sp>
        <p:nvSpPr>
          <p:cNvPr id="24" name="Shape 17"/>
          <p:cNvSpPr/>
          <p:nvPr/>
        </p:nvSpPr>
        <p:spPr>
          <a:xfrm>
            <a:off x="3492500" y="3500121"/>
            <a:ext cx="2527300" cy="1732280"/>
          </a:xfrm>
          <a:prstGeom prst="roundRect">
            <a:avLst>
              <a:gd name="adj" fmla="val 5865"/>
            </a:avLst>
          </a:prstGeom>
          <a:solidFill>
            <a:srgbClr val="FBFCFB"/>
          </a:solidFill>
          <a:ln/>
        </p:spPr>
      </p:sp>
      <p:pic>
        <p:nvPicPr>
          <p:cNvPr id="25" name="Image 5" descr="Settings">    </p:cNvPr>
          <p:cNvPicPr>
            <a:picLocks noChangeAspect="1"/>
          </p:cNvPicPr>
          <p:nvPr/>
        </p:nvPicPr>
        <p:blipFill>
          <a:blip r:embed="rId6"/>
          <a:srcRect l="0" r="0" t="0" b="0"/>
          <a:stretch/>
        </p:blipFill>
        <p:spPr>
          <a:xfrm>
            <a:off x="3695700" y="3703321"/>
            <a:ext cx="304800" cy="304800"/>
          </a:xfrm>
          <a:prstGeom prst="rect">
            <a:avLst/>
          </a:prstGeom>
        </p:spPr>
      </p:pic>
      <p:sp>
        <p:nvSpPr>
          <p:cNvPr id="26" name="Text 18"/>
          <p:cNvSpPr/>
          <p:nvPr/>
        </p:nvSpPr>
        <p:spPr>
          <a:xfrm>
            <a:off x="3695700" y="4084321"/>
            <a:ext cx="218452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01C"/>
                </a:solidFill>
                <a:latin typeface="Be Vietnam Pro" pitchFamily="34" charset="0"/>
                <a:ea typeface="Be Vietnam Pro" pitchFamily="34" charset="-122"/>
                <a:cs typeface="Be Vietnam Pro" pitchFamily="34" charset="-120"/>
              </a:rPr>
              <a:t>Secrets on server</a:t>
            </a:r>
            <a:endParaRPr lang="en-US" sz="1500" dirty="0"/>
          </a:p>
        </p:txBody>
      </p:sp>
      <p:sp>
        <p:nvSpPr>
          <p:cNvPr id="27" name="Text 19"/>
          <p:cNvSpPr/>
          <p:nvPr/>
        </p:nvSpPr>
        <p:spPr>
          <a:xfrm>
            <a:off x="3695700" y="4389121"/>
            <a:ext cx="218452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E5D57"/>
                </a:solidFill>
                <a:latin typeface="Be Vietnam Pro" pitchFamily="34" charset="0"/>
                <a:ea typeface="Be Vietnam Pro" pitchFamily="34" charset="-122"/>
                <a:cs typeface="Be Vietnam Pro" pitchFamily="34" charset="-120"/>
              </a:rPr>
              <a:t>Keys in .env, listed in .gitignore, never in the app</a:t>
            </a:r>
            <a:endParaRPr lang="en-US" sz="1200" dirty="0"/>
          </a:p>
        </p:txBody>
      </p:sp>
      <p:sp>
        <p:nvSpPr>
          <p:cNvPr id="28" name="Shape 20"/>
          <p:cNvSpPr/>
          <p:nvPr/>
        </p:nvSpPr>
        <p:spPr>
          <a:xfrm>
            <a:off x="6172200" y="3500121"/>
            <a:ext cx="2527300" cy="1732280"/>
          </a:xfrm>
          <a:prstGeom prst="roundRect">
            <a:avLst>
              <a:gd name="adj" fmla="val 5865"/>
            </a:avLst>
          </a:prstGeom>
          <a:solidFill>
            <a:srgbClr val="FBFCFB"/>
          </a:solidFill>
          <a:ln/>
        </p:spPr>
      </p:sp>
      <p:pic>
        <p:nvPicPr>
          <p:cNvPr id="29" name="Image 6" descr="Search">    </p:cNvPr>
          <p:cNvPicPr>
            <a:picLocks noChangeAspect="1"/>
          </p:cNvPicPr>
          <p:nvPr/>
        </p:nvPicPr>
        <p:blipFill>
          <a:blip r:embed="rId7"/>
          <a:srcRect l="0" r="0" t="0" b="0"/>
          <a:stretch/>
        </p:blipFill>
        <p:spPr>
          <a:xfrm>
            <a:off x="6375400" y="3703321"/>
            <a:ext cx="304800" cy="304800"/>
          </a:xfrm>
          <a:prstGeom prst="rect">
            <a:avLst/>
          </a:prstGeom>
        </p:spPr>
      </p:pic>
      <p:sp>
        <p:nvSpPr>
          <p:cNvPr id="30" name="Text 21"/>
          <p:cNvSpPr/>
          <p:nvPr/>
        </p:nvSpPr>
        <p:spPr>
          <a:xfrm>
            <a:off x="6375400" y="4084321"/>
            <a:ext cx="218452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01C"/>
                </a:solidFill>
                <a:latin typeface="Be Vietnam Pro" pitchFamily="34" charset="0"/>
                <a:ea typeface="Be Vietnam Pro" pitchFamily="34" charset="-122"/>
                <a:cs typeface="Be Vietnam Pro" pitchFamily="34" charset="-120"/>
              </a:rPr>
              <a:t>Clean logs</a:t>
            </a:r>
            <a:endParaRPr lang="en-US" sz="1500" dirty="0"/>
          </a:p>
        </p:txBody>
      </p:sp>
      <p:sp>
        <p:nvSpPr>
          <p:cNvPr id="31" name="Text 22"/>
          <p:cNvSpPr/>
          <p:nvPr/>
        </p:nvSpPr>
        <p:spPr>
          <a:xfrm>
            <a:off x="6375400" y="4389121"/>
            <a:ext cx="218452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E5D57"/>
                </a:solidFill>
                <a:latin typeface="Be Vietnam Pro" pitchFamily="34" charset="0"/>
                <a:ea typeface="Be Vietnam Pro" pitchFamily="34" charset="-122"/>
                <a:cs typeface="Be Vietnam Pro" pitchFamily="34" charset="-120"/>
              </a:rPr>
              <a:t>User UUID and error code only, no content</a:t>
            </a:r>
            <a:endParaRPr lang="en-US" sz="1200" dirty="0"/>
          </a:p>
        </p:txBody>
      </p:sp>
      <p:sp>
        <p:nvSpPr>
          <p:cNvPr id="32" name="Shape 23"/>
          <p:cNvSpPr/>
          <p:nvPr/>
        </p:nvSpPr>
        <p:spPr>
          <a:xfrm>
            <a:off x="8851900" y="3500121"/>
            <a:ext cx="2527300" cy="1732280"/>
          </a:xfrm>
          <a:prstGeom prst="roundRect">
            <a:avLst>
              <a:gd name="adj" fmla="val 5865"/>
            </a:avLst>
          </a:prstGeom>
          <a:solidFill>
            <a:srgbClr val="FBFCFB"/>
          </a:solidFill>
          <a:ln/>
        </p:spPr>
      </p:sp>
      <p:pic>
        <p:nvPicPr>
          <p:cNvPr id="33" name="Image 7" descr="Cloud">    </p:cNvPr>
          <p:cNvPicPr>
            <a:picLocks noChangeAspect="1"/>
          </p:cNvPicPr>
          <p:nvPr/>
        </p:nvPicPr>
        <p:blipFill>
          <a:blip r:embed="rId8"/>
          <a:srcRect l="0" r="0" t="0" b="0"/>
          <a:stretch/>
        </p:blipFill>
        <p:spPr>
          <a:xfrm>
            <a:off x="9055100" y="3703321"/>
            <a:ext cx="304800" cy="304800"/>
          </a:xfrm>
          <a:prstGeom prst="rect">
            <a:avLst/>
          </a:prstGeom>
        </p:spPr>
      </p:pic>
      <p:sp>
        <p:nvSpPr>
          <p:cNvPr id="34" name="Text 24"/>
          <p:cNvSpPr/>
          <p:nvPr/>
        </p:nvSpPr>
        <p:spPr>
          <a:xfrm>
            <a:off x="9055100" y="4084321"/>
            <a:ext cx="218452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01C"/>
                </a:solidFill>
                <a:latin typeface="Be Vietnam Pro" pitchFamily="34" charset="0"/>
                <a:ea typeface="Be Vietnam Pro" pitchFamily="34" charset="-122"/>
                <a:cs typeface="Be Vietnam Pro" pitchFamily="34" charset="-120"/>
              </a:rPr>
              <a:t>Encrypted backups</a:t>
            </a:r>
            <a:endParaRPr lang="en-US" sz="1500" dirty="0"/>
          </a:p>
        </p:txBody>
      </p:sp>
      <p:sp>
        <p:nvSpPr>
          <p:cNvPr id="35" name="Text 25"/>
          <p:cNvSpPr/>
          <p:nvPr/>
        </p:nvSpPr>
        <p:spPr>
          <a:xfrm>
            <a:off x="9055100" y="4389121"/>
            <a:ext cx="218452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E5D57"/>
                </a:solidFill>
                <a:latin typeface="Be Vietnam Pro" pitchFamily="34" charset="0"/>
                <a:ea typeface="Be Vietnam Pro" pitchFamily="34" charset="-122"/>
                <a:cs typeface="Be Vietnam Pro" pitchFamily="34" charset="-120"/>
              </a:rPr>
              <a:t>Stored separately, deleted after 7 days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6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3A15"/>
                </a:solidFill>
                <a:latin typeface="JetBrains Mono" pitchFamily="49" charset="0"/>
                <a:ea typeface="JetBrains Mono" pitchFamily="49" charset="-122"/>
                <a:cs typeface="JetBrains Mono" pitchFamily="49" charset="-120"/>
              </a:rPr>
              <a:t>CHOOSING A FREE DATABASE</a:t>
            </a:r>
            <a:endParaRPr lang="en-US" sz="1200" dirty="0"/>
          </a:p>
        </p:txBody>
      </p:sp>
      <p:sp>
        <p:nvSpPr>
          <p:cNvPr id="3" name="Text 1"/>
          <p:cNvSpPr/>
          <p:nvPr>
            <p:ph type="title"/>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01C"/>
                </a:solidFill>
                <a:latin typeface="Be Vietnam Pro" pitchFamily="34" charset="0"/>
                <a:ea typeface="Be Vietnam Pro" pitchFamily="34" charset="-122"/>
                <a:cs typeface="Be Vietnam Pro" pitchFamily="34" charset="-120"/>
              </a:rPr>
              <a:t>Supabase first, Turso as the backup option</a:t>
            </a:r>
            <a:endParaRPr lang="en-US" sz="3200" dirty="0"/>
          </a:p>
        </p:txBody>
      </p:sp>
      <p:sp>
        <p:nvSpPr>
          <p:cNvPr id="4" name="Shape 2"/>
          <p:cNvSpPr/>
          <p:nvPr/>
        </p:nvSpPr>
        <p:spPr>
          <a:xfrm>
            <a:off x="812800" y="1803400"/>
            <a:ext cx="10566400" cy="2387600"/>
          </a:xfrm>
          <a:prstGeom prst="roundRect">
            <a:avLst>
              <a:gd name="adj" fmla="val 4255"/>
            </a:avLst>
          </a:prstGeom>
          <a:solidFill>
            <a:srgbClr val="FBFCFB"/>
          </a:solidFill>
          <a:ln/>
        </p:spPr>
      </p:sp>
      <p:sp>
        <p:nvSpPr>
          <p:cNvPr id="5" name="Shape 3"/>
          <p:cNvSpPr/>
          <p:nvPr/>
        </p:nvSpPr>
        <p:spPr>
          <a:xfrm>
            <a:off x="812800" y="1803400"/>
            <a:ext cx="10566400" cy="2387600"/>
          </a:xfrm>
          <a:custGeom>
            <a:avLst/>
            <a:gdLst/>
            <a:ahLst/>
            <a:cxnLst/>
            <a:rect l="l" t="t" r="r" b="b"/>
            <a:pathLst>
              <a:path w="10566400" h="2387600">
                <a:moveTo>
                  <a:pt x="10464800" y="0"/>
                </a:moveTo>
                <a:lnTo>
                  <a:pt x="10464800" y="0"/>
                </a:lnTo>
                <a:arcTo hR="101600" wR="101600" stAng="16200000" swAng="5400000"/>
                <a:lnTo>
                  <a:pt x="10566400" y="2286000"/>
                </a:lnTo>
                <a:arcTo hR="101600" wR="101600" stAng="0" swAng="5400000"/>
                <a:lnTo>
                  <a:pt x="101600" y="2387600"/>
                </a:lnTo>
                <a:arcTo hR="101600" wR="101600" stAng="5400000" swAng="5400000"/>
                <a:lnTo>
                  <a:pt x="0" y="2286000"/>
                </a:lnTo>
                <a:arcTo hR="95250" wR="101600" stAng="10800000" swAng="-5400000"/>
                <a:lnTo>
                  <a:pt x="10464800" y="2381250"/>
                </a:lnTo>
                <a:arcTo hR="95250" wR="95250" stAng="5400000" swAng="-5400000"/>
                <a:lnTo>
                  <a:pt x="10560050" y="101600"/>
                </a:lnTo>
                <a:arcTo hR="101600" wR="95250" stAng="0" swAng="-5400000"/>
                <a:close/>
              </a:path>
            </a:pathLst>
          </a:custGeom>
          <a:solidFill>
            <a:srgbClr val="C3CFCA"/>
          </a:solidFill>
          <a:ln/>
        </p:spPr>
      </p:sp>
      <p:sp>
        <p:nvSpPr>
          <p:cNvPr id="6" name="Shape 4"/>
          <p:cNvSpPr/>
          <p:nvPr/>
        </p:nvSpPr>
        <p:spPr>
          <a:xfrm>
            <a:off x="812800" y="1803400"/>
            <a:ext cx="10566400" cy="2387600"/>
          </a:xfrm>
          <a:custGeom>
            <a:avLst/>
            <a:gdLst/>
            <a:ahLst/>
            <a:cxnLst/>
            <a:rect l="l" t="t" r="r" b="b"/>
            <a:pathLst>
              <a:path w="10566400" h="2387600">
                <a:moveTo>
                  <a:pt x="101600" y="2387600"/>
                </a:moveTo>
                <a:lnTo>
                  <a:pt x="101600" y="2387600"/>
                </a:lnTo>
                <a:arcTo hR="101600" wR="101600" stAng="5400000" swAng="5400000"/>
                <a:lnTo>
                  <a:pt x="0" y="101600"/>
                </a:lnTo>
                <a:arcTo hR="101600" wR="101600" stAng="10800000" swAng="5400000"/>
                <a:lnTo>
                  <a:pt x="10464800" y="0"/>
                </a:lnTo>
                <a:arcTo hR="101600" wR="101600" stAng="16200000" swAng="5400000"/>
                <a:lnTo>
                  <a:pt x="10566400" y="101600"/>
                </a:lnTo>
                <a:arcTo hR="91440" wR="101600" stAng="0" swAng="-5400000"/>
                <a:lnTo>
                  <a:pt x="101600" y="10160"/>
                </a:lnTo>
                <a:arcTo hR="91440" wR="91440" stAng="16200000" swAng="-5400000"/>
                <a:lnTo>
                  <a:pt x="10160" y="2286000"/>
                </a:lnTo>
                <a:arcTo hR="101600" wR="91440" stAng="10800000" swAng="-5400000"/>
                <a:close/>
              </a:path>
            </a:pathLst>
          </a:custGeom>
          <a:solidFill>
            <a:srgbClr val="141413">
              <a:alpha val="22000"/>
            </a:srgbClr>
          </a:solidFill>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2960" y="1813560"/>
          <a:ext cx="10551160" cy="2372360"/>
        </p:xfrm>
        <a:graphic>
          <a:graphicData uri="http://schemas.openxmlformats.org/drawingml/2006/table">
            <a:tbl>
              <a:tblPr/>
              <a:tblGrid>
                <a:gridCol w="1793697"/>
                <a:gridCol w="1793697"/>
                <a:gridCol w="2954325"/>
                <a:gridCol w="1055116"/>
                <a:gridCol w="2954325"/>
              </a:tblGrid>
              <a:tr h="356870">
                <a:tc>
                  <a:txBody>
                    <a:bodyPr/>
                    <a:lstStyle/>
                    <a:p>
                      <a:pPr indent="0" marL="0">
                        <a:lnSpc>
                          <a:spcPts val="1820"/>
                        </a:lnSpc>
                        <a:buNone/>
                      </a:pPr>
                      <a:r>
                        <a:rPr lang="en-US" sz="1300" b="1" dirty="0">
                          <a:solidFill>
                            <a:srgbClr val="14201C"/>
                          </a:solidFill>
                          <a:latin typeface="Be Vietnam Pro" pitchFamily="34" charset="0"/>
                          <a:ea typeface="Be Vietnam Pro" pitchFamily="34" charset="-122"/>
                          <a:cs typeface="Be Vietnam Pro" pitchFamily="34" charset="-120"/>
                        </a:rPr>
                        <a:t>Service</a:t>
                      </a:r>
                      <a:endParaRPr lang="en-US" sz="1300" dirty="0">
                        <a:latin typeface="Be Vietnam Pro" charset="0"/>
                        <a:ea typeface="Be Vietnam Pro" charset="0"/>
                        <a:cs typeface="Be Vietnam Pro" charset="0"/>
                      </a:endParaRPr>
                    </a:p>
                  </a:txBody>
                  <a:tcPr marL="57785" marR="57785" marT="57785" marB="57785" anchor="t">
                    <a:lnL w="0" cap="flat" cmpd="sng" algn="ctr">
                      <a:noFill/>
                    </a:lnL>
                    <a:lnR w="12700" cap="flat" cmpd="sng" algn="ctr">
                      <a:solidFill>
                        <a:srgbClr val="B6BCB9"/>
                      </a:solidFill>
                      <a:prstDash val="solid"/>
                      <a:round/>
                      <a:headEnd type="none" w="med" len="med"/>
                      <a:tailEnd type="none" w="med" len="med"/>
                    </a:lnR>
                    <a:lnT w="0" cap="flat" cmpd="sng" algn="ctr">
                      <a:noFill/>
                    </a:lnT>
                    <a:lnB w="12700" cap="flat" cmpd="sng" algn="ctr">
                      <a:solidFill>
                        <a:srgbClr val="B6BCB9"/>
                      </a:solidFill>
                      <a:prstDash val="solid"/>
                      <a:round/>
                      <a:headEnd type="none" w="med" len="med"/>
                      <a:tailEnd type="none" w="med" len="med"/>
                    </a:lnB>
                    <a:solidFill>
                      <a:srgbClr val="E4EBE8"/>
                    </a:solidFill>
                  </a:tcPr>
                </a:tc>
                <a:tc>
                  <a:txBody>
                    <a:bodyPr/>
                    <a:lstStyle/>
                    <a:p>
                      <a:pPr indent="0" marL="0">
                        <a:lnSpc>
                          <a:spcPts val="1820"/>
                        </a:lnSpc>
                        <a:buNone/>
                      </a:pPr>
                      <a:r>
                        <a:rPr lang="en-US" sz="1300" b="1" dirty="0">
                          <a:solidFill>
                            <a:srgbClr val="14201C"/>
                          </a:solidFill>
                          <a:latin typeface="Be Vietnam Pro" pitchFamily="34" charset="0"/>
                          <a:ea typeface="Be Vietnam Pro" pitchFamily="34" charset="-122"/>
                          <a:cs typeface="Be Vietnam Pro" pitchFamily="34" charset="-120"/>
                        </a:rPr>
                        <a:t>Type</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6BCB9"/>
                      </a:solidFill>
                      <a:prstDash val="solid"/>
                      <a:round/>
                      <a:headEnd type="none" w="med" len="med"/>
                      <a:tailEnd type="none" w="med" len="med"/>
                    </a:lnL>
                    <a:lnR w="12700" cap="flat" cmpd="sng" algn="ctr">
                      <a:solidFill>
                        <a:srgbClr val="B6BCB9"/>
                      </a:solidFill>
                      <a:prstDash val="solid"/>
                      <a:round/>
                      <a:headEnd type="none" w="med" len="med"/>
                      <a:tailEnd type="none" w="med" len="med"/>
                    </a:lnR>
                    <a:lnT w="0" cap="flat" cmpd="sng" algn="ctr">
                      <a:noFill/>
                    </a:lnT>
                    <a:lnB w="12700" cap="flat" cmpd="sng" algn="ctr">
                      <a:solidFill>
                        <a:srgbClr val="B6BCB9"/>
                      </a:solidFill>
                      <a:prstDash val="solid"/>
                      <a:round/>
                      <a:headEnd type="none" w="med" len="med"/>
                      <a:tailEnd type="none" w="med" len="med"/>
                    </a:lnB>
                    <a:solidFill>
                      <a:srgbClr val="E4EBE8"/>
                    </a:solidFill>
                  </a:tcPr>
                </a:tc>
                <a:tc>
                  <a:txBody>
                    <a:bodyPr/>
                    <a:lstStyle/>
                    <a:p>
                      <a:pPr indent="0" marL="0">
                        <a:lnSpc>
                          <a:spcPts val="1820"/>
                        </a:lnSpc>
                        <a:buNone/>
                      </a:pPr>
                      <a:r>
                        <a:rPr lang="en-US" sz="1300" b="1" dirty="0">
                          <a:solidFill>
                            <a:srgbClr val="14201C"/>
                          </a:solidFill>
                          <a:latin typeface="Be Vietnam Pro" pitchFamily="34" charset="0"/>
                          <a:ea typeface="Be Vietnam Pro" pitchFamily="34" charset="-122"/>
                          <a:cs typeface="Be Vietnam Pro" pitchFamily="34" charset="-120"/>
                        </a:rPr>
                        <a:t>Free tier</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6BCB9"/>
                      </a:solidFill>
                      <a:prstDash val="solid"/>
                      <a:round/>
                      <a:headEnd type="none" w="med" len="med"/>
                      <a:tailEnd type="none" w="med" len="med"/>
                    </a:lnL>
                    <a:lnR w="12700" cap="flat" cmpd="sng" algn="ctr">
                      <a:solidFill>
                        <a:srgbClr val="B6BCB9"/>
                      </a:solidFill>
                      <a:prstDash val="solid"/>
                      <a:round/>
                      <a:headEnd type="none" w="med" len="med"/>
                      <a:tailEnd type="none" w="med" len="med"/>
                    </a:lnR>
                    <a:lnT w="0" cap="flat" cmpd="sng" algn="ctr">
                      <a:noFill/>
                    </a:lnT>
                    <a:lnB w="12700" cap="flat" cmpd="sng" algn="ctr">
                      <a:solidFill>
                        <a:srgbClr val="B6BCB9"/>
                      </a:solidFill>
                      <a:prstDash val="solid"/>
                      <a:round/>
                      <a:headEnd type="none" w="med" len="med"/>
                      <a:tailEnd type="none" w="med" len="med"/>
                    </a:lnB>
                    <a:solidFill>
                      <a:srgbClr val="E4EBE8"/>
                    </a:solidFill>
                  </a:tcPr>
                </a:tc>
                <a:tc>
                  <a:txBody>
                    <a:bodyPr/>
                    <a:lstStyle/>
                    <a:p>
                      <a:pPr indent="0" marL="0">
                        <a:lnSpc>
                          <a:spcPts val="1820"/>
                        </a:lnSpc>
                        <a:buNone/>
                      </a:pPr>
                      <a:r>
                        <a:rPr lang="en-US" sz="1300" b="1" dirty="0">
                          <a:solidFill>
                            <a:srgbClr val="14201C"/>
                          </a:solidFill>
                          <a:latin typeface="Be Vietnam Pro" pitchFamily="34" charset="0"/>
                          <a:ea typeface="Be Vietnam Pro" pitchFamily="34" charset="-122"/>
                          <a:cs typeface="Be Vietnam Pro" pitchFamily="34" charset="-120"/>
                        </a:rPr>
                        <a:t>Auth</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6BCB9"/>
                      </a:solidFill>
                      <a:prstDash val="solid"/>
                      <a:round/>
                      <a:headEnd type="none" w="med" len="med"/>
                      <a:tailEnd type="none" w="med" len="med"/>
                    </a:lnL>
                    <a:lnR w="12700" cap="flat" cmpd="sng" algn="ctr">
                      <a:solidFill>
                        <a:srgbClr val="B6BCB9"/>
                      </a:solidFill>
                      <a:prstDash val="solid"/>
                      <a:round/>
                      <a:headEnd type="none" w="med" len="med"/>
                      <a:tailEnd type="none" w="med" len="med"/>
                    </a:lnR>
                    <a:lnT w="0" cap="flat" cmpd="sng" algn="ctr">
                      <a:noFill/>
                    </a:lnT>
                    <a:lnB w="12700" cap="flat" cmpd="sng" algn="ctr">
                      <a:solidFill>
                        <a:srgbClr val="B6BCB9"/>
                      </a:solidFill>
                      <a:prstDash val="solid"/>
                      <a:round/>
                      <a:headEnd type="none" w="med" len="med"/>
                      <a:tailEnd type="none" w="med" len="med"/>
                    </a:lnB>
                    <a:solidFill>
                      <a:srgbClr val="E4EBE8"/>
                    </a:solidFill>
                  </a:tcPr>
                </a:tc>
                <a:tc>
                  <a:txBody>
                    <a:bodyPr/>
                    <a:lstStyle/>
                    <a:p>
                      <a:pPr indent="0" marL="0">
                        <a:lnSpc>
                          <a:spcPts val="1820"/>
                        </a:lnSpc>
                        <a:buNone/>
                      </a:pPr>
                      <a:r>
                        <a:rPr lang="en-US" sz="1300" b="1" dirty="0">
                          <a:solidFill>
                            <a:srgbClr val="14201C"/>
                          </a:solidFill>
                          <a:latin typeface="Be Vietnam Pro" pitchFamily="34" charset="0"/>
                          <a:ea typeface="Be Vietnam Pro" pitchFamily="34" charset="-122"/>
                          <a:cs typeface="Be Vietnam Pro" pitchFamily="34" charset="-120"/>
                        </a:rPr>
                        <a:t>Verdict</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6BCB9"/>
                      </a:solidFill>
                      <a:prstDash val="solid"/>
                      <a:round/>
                      <a:headEnd type="none" w="med" len="med"/>
                      <a:tailEnd type="none" w="med" len="med"/>
                    </a:lnL>
                    <a:lnR w="12700" cap="flat" cmpd="sng" algn="ctr">
                      <a:solidFill>
                        <a:srgbClr val="B6BCB9"/>
                      </a:solidFill>
                      <a:prstDash val="solid"/>
                      <a:round/>
                      <a:headEnd type="none" w="med" len="med"/>
                      <a:tailEnd type="none" w="med" len="med"/>
                    </a:lnR>
                    <a:lnT w="0" cap="flat" cmpd="sng" algn="ctr">
                      <a:noFill/>
                    </a:lnT>
                    <a:lnB w="12700" cap="flat" cmpd="sng" algn="ctr">
                      <a:solidFill>
                        <a:srgbClr val="B6BCB9"/>
                      </a:solidFill>
                      <a:prstDash val="solid"/>
                      <a:round/>
                      <a:headEnd type="none" w="med" len="med"/>
                      <a:tailEnd type="none" w="med" len="med"/>
                    </a:lnB>
                    <a:solidFill>
                      <a:srgbClr val="E4EBE8"/>
                    </a:solidFill>
                  </a:tcPr>
                </a:tc>
              </a:tr>
              <a:tr h="588010">
                <a:tc>
                  <a:txBody>
                    <a:bodyPr/>
                    <a:lstStyle/>
                    <a:p>
                      <a:pPr indent="0" marL="0">
                        <a:lnSpc>
                          <a:spcPts val="1820"/>
                        </a:lnSpc>
                        <a:buNone/>
                      </a:pPr>
                      <a:r>
                        <a:rPr lang="en-US" sz="1300" dirty="0">
                          <a:solidFill>
                            <a:srgbClr val="14201C"/>
                          </a:solidFill>
                          <a:latin typeface="Be Vietnam Pro" pitchFamily="34" charset="0"/>
                          <a:ea typeface="Be Vietnam Pro" pitchFamily="34" charset="-122"/>
                          <a:cs typeface="Be Vietnam Pro" pitchFamily="34" charset="-120"/>
                        </a:rPr>
                        <a:t>Supabase</a:t>
                      </a:r>
                      <a:endParaRPr lang="en-US" sz="1300" dirty="0">
                        <a:latin typeface="Be Vietnam Pro" charset="0"/>
                        <a:ea typeface="Be Vietnam Pro" charset="0"/>
                        <a:cs typeface="Be Vietnam Pro" charset="0"/>
                      </a:endParaRPr>
                    </a:p>
                  </a:txBody>
                  <a:tcPr marL="57785" marR="57785" marT="57785" marB="57785" anchor="t">
                    <a:lnL w="0" cap="flat" cmpd="sng" algn="ctr">
                      <a:noFill/>
                    </a:lnL>
                    <a:lnR w="12700" cap="flat" cmpd="sng" algn="ctr">
                      <a:solidFill>
                        <a:srgbClr val="B5C0BB"/>
                      </a:solidFill>
                      <a:prstDash val="solid"/>
                      <a:round/>
                      <a:headEnd type="none" w="med" len="med"/>
                      <a:tailEnd type="none" w="med" len="med"/>
                    </a:lnR>
                    <a:lnT w="12700" cap="flat" cmpd="sng" algn="ctr">
                      <a:solidFill>
                        <a:srgbClr val="B6BCB9"/>
                      </a:solidFill>
                      <a:prstDash val="solid"/>
                      <a:round/>
                      <a:headEnd type="none" w="med" len="med"/>
                      <a:tailEnd type="none" w="med" len="med"/>
                    </a:lnT>
                    <a:lnB w="12700" cap="flat" cmpd="sng" algn="ctr">
                      <a:solidFill>
                        <a:srgbClr val="B5C0BB"/>
                      </a:solidFill>
                      <a:prstDash val="solid"/>
                      <a:round/>
                      <a:headEnd type="none" w="med" len="med"/>
                      <a:tailEnd type="none" w="med" len="med"/>
                    </a:lnB>
                    <a:solidFill>
                      <a:srgbClr val="E3F1EB"/>
                    </a:solidFill>
                  </a:tcPr>
                </a:tc>
                <a:tc>
                  <a:txBody>
                    <a:bodyPr/>
                    <a:lstStyle/>
                    <a:p>
                      <a:pPr indent="0" marL="0">
                        <a:lnSpc>
                          <a:spcPts val="1820"/>
                        </a:lnSpc>
                        <a:buNone/>
                      </a:pPr>
                      <a:r>
                        <a:rPr lang="en-US" sz="1300" dirty="0">
                          <a:solidFill>
                            <a:srgbClr val="14201C"/>
                          </a:solidFill>
                          <a:latin typeface="Be Vietnam Pro" pitchFamily="34" charset="0"/>
                          <a:ea typeface="Be Vietnam Pro" pitchFamily="34" charset="-122"/>
                          <a:cs typeface="Be Vietnam Pro" pitchFamily="34" charset="-120"/>
                        </a:rPr>
                        <a:t>Postgres</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5C0BB"/>
                      </a:solidFill>
                      <a:prstDash val="solid"/>
                      <a:round/>
                      <a:headEnd type="none" w="med" len="med"/>
                      <a:tailEnd type="none" w="med" len="med"/>
                    </a:lnL>
                    <a:lnR w="12700" cap="flat" cmpd="sng" algn="ctr">
                      <a:solidFill>
                        <a:srgbClr val="B5C0BB"/>
                      </a:solidFill>
                      <a:prstDash val="solid"/>
                      <a:round/>
                      <a:headEnd type="none" w="med" len="med"/>
                      <a:tailEnd type="none" w="med" len="med"/>
                    </a:lnR>
                    <a:lnT w="12700" cap="flat" cmpd="sng" algn="ctr">
                      <a:solidFill>
                        <a:srgbClr val="B6BCB9"/>
                      </a:solidFill>
                      <a:prstDash val="solid"/>
                      <a:round/>
                      <a:headEnd type="none" w="med" len="med"/>
                      <a:tailEnd type="none" w="med" len="med"/>
                    </a:lnT>
                    <a:lnB w="12700" cap="flat" cmpd="sng" algn="ctr">
                      <a:solidFill>
                        <a:srgbClr val="B5C0BB"/>
                      </a:solidFill>
                      <a:prstDash val="solid"/>
                      <a:round/>
                      <a:headEnd type="none" w="med" len="med"/>
                      <a:tailEnd type="none" w="med" len="med"/>
                    </a:lnB>
                    <a:solidFill>
                      <a:srgbClr val="E3F1EB"/>
                    </a:solidFill>
                  </a:tcPr>
                </a:tc>
                <a:tc>
                  <a:txBody>
                    <a:bodyPr/>
                    <a:lstStyle/>
                    <a:p>
                      <a:pPr indent="0" marL="0">
                        <a:lnSpc>
                          <a:spcPts val="1820"/>
                        </a:lnSpc>
                        <a:buNone/>
                      </a:pPr>
                      <a:r>
                        <a:rPr lang="en-US" sz="1300" dirty="0">
                          <a:solidFill>
                            <a:srgbClr val="14201C"/>
                          </a:solidFill>
                          <a:latin typeface="Be Vietnam Pro" pitchFamily="34" charset="0"/>
                          <a:ea typeface="Be Vietnam Pro" pitchFamily="34" charset="-122"/>
                          <a:cs typeface="Be Vietnam Pro" pitchFamily="34" charset="-120"/>
                        </a:rPr>
                        <a:t>500 MB, 50,000 MAU, 2 projects</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5C0BB"/>
                      </a:solidFill>
                      <a:prstDash val="solid"/>
                      <a:round/>
                      <a:headEnd type="none" w="med" len="med"/>
                      <a:tailEnd type="none" w="med" len="med"/>
                    </a:lnL>
                    <a:lnR w="12700" cap="flat" cmpd="sng" algn="ctr">
                      <a:solidFill>
                        <a:srgbClr val="B5C0BB"/>
                      </a:solidFill>
                      <a:prstDash val="solid"/>
                      <a:round/>
                      <a:headEnd type="none" w="med" len="med"/>
                      <a:tailEnd type="none" w="med" len="med"/>
                    </a:lnR>
                    <a:lnT w="12700" cap="flat" cmpd="sng" algn="ctr">
                      <a:solidFill>
                        <a:srgbClr val="B6BCB9"/>
                      </a:solidFill>
                      <a:prstDash val="solid"/>
                      <a:round/>
                      <a:headEnd type="none" w="med" len="med"/>
                      <a:tailEnd type="none" w="med" len="med"/>
                    </a:lnT>
                    <a:lnB w="12700" cap="flat" cmpd="sng" algn="ctr">
                      <a:solidFill>
                        <a:srgbClr val="B5C0BB"/>
                      </a:solidFill>
                      <a:prstDash val="solid"/>
                      <a:round/>
                      <a:headEnd type="none" w="med" len="med"/>
                      <a:tailEnd type="none" w="med" len="med"/>
                    </a:lnB>
                    <a:solidFill>
                      <a:srgbClr val="E3F1EB"/>
                    </a:solidFill>
                  </a:tcPr>
                </a:tc>
                <a:tc>
                  <a:txBody>
                    <a:bodyPr/>
                    <a:lstStyle/>
                    <a:p>
                      <a:pPr indent="0" marL="0">
                        <a:lnSpc>
                          <a:spcPts val="1820"/>
                        </a:lnSpc>
                        <a:buNone/>
                      </a:pPr>
                      <a:r>
                        <a:rPr lang="en-US" sz="1300" dirty="0">
                          <a:solidFill>
                            <a:srgbClr val="14201C"/>
                          </a:solidFill>
                          <a:latin typeface="Be Vietnam Pro" pitchFamily="34" charset="0"/>
                          <a:ea typeface="Be Vietnam Pro" pitchFamily="34" charset="-122"/>
                          <a:cs typeface="Be Vietnam Pro" pitchFamily="34" charset="-120"/>
                        </a:rPr>
                        <a:t>Yes</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5C0BB"/>
                      </a:solidFill>
                      <a:prstDash val="solid"/>
                      <a:round/>
                      <a:headEnd type="none" w="med" len="med"/>
                      <a:tailEnd type="none" w="med" len="med"/>
                    </a:lnL>
                    <a:lnR w="12700" cap="flat" cmpd="sng" algn="ctr">
                      <a:solidFill>
                        <a:srgbClr val="B5C0BB"/>
                      </a:solidFill>
                      <a:prstDash val="solid"/>
                      <a:round/>
                      <a:headEnd type="none" w="med" len="med"/>
                      <a:tailEnd type="none" w="med" len="med"/>
                    </a:lnR>
                    <a:lnT w="12700" cap="flat" cmpd="sng" algn="ctr">
                      <a:solidFill>
                        <a:srgbClr val="B6BCB9"/>
                      </a:solidFill>
                      <a:prstDash val="solid"/>
                      <a:round/>
                      <a:headEnd type="none" w="med" len="med"/>
                      <a:tailEnd type="none" w="med" len="med"/>
                    </a:lnT>
                    <a:lnB w="12700" cap="flat" cmpd="sng" algn="ctr">
                      <a:solidFill>
                        <a:srgbClr val="B5C0BB"/>
                      </a:solidFill>
                      <a:prstDash val="solid"/>
                      <a:round/>
                      <a:headEnd type="none" w="med" len="med"/>
                      <a:tailEnd type="none" w="med" len="med"/>
                    </a:lnB>
                    <a:solidFill>
                      <a:srgbClr val="E3F1EB"/>
                    </a:solidFill>
                  </a:tcPr>
                </a:tc>
                <a:tc>
                  <a:txBody>
                    <a:bodyPr/>
                    <a:lstStyle/>
                    <a:p>
                      <a:pPr indent="0" marL="0">
                        <a:lnSpc>
                          <a:spcPts val="1820"/>
                        </a:lnSpc>
                        <a:buNone/>
                      </a:pPr>
                      <a:r>
                        <a:rPr lang="en-US" sz="1300" dirty="0">
                          <a:solidFill>
                            <a:srgbClr val="14201C"/>
                          </a:solidFill>
                          <a:latin typeface="Be Vietnam Pro" pitchFamily="34" charset="0"/>
                          <a:ea typeface="Be Vietnam Pro" pitchFamily="34" charset="-122"/>
                          <a:cs typeface="Be Vietnam Pro" pitchFamily="34" charset="-120"/>
                        </a:rPr>
                        <a:t>Recommended. Pauses after 1 idle week</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5C0BB"/>
                      </a:solidFill>
                      <a:prstDash val="solid"/>
                      <a:round/>
                      <a:headEnd type="none" w="med" len="med"/>
                      <a:tailEnd type="none" w="med" len="med"/>
                    </a:lnL>
                    <a:lnR w="12700" cap="flat" cmpd="sng" algn="ctr">
                      <a:solidFill>
                        <a:srgbClr val="B5C0BB"/>
                      </a:solidFill>
                      <a:prstDash val="solid"/>
                      <a:round/>
                      <a:headEnd type="none" w="med" len="med"/>
                      <a:tailEnd type="none" w="med" len="med"/>
                    </a:lnR>
                    <a:lnT w="12700" cap="flat" cmpd="sng" algn="ctr">
                      <a:solidFill>
                        <a:srgbClr val="B6BCB9"/>
                      </a:solidFill>
                      <a:prstDash val="solid"/>
                      <a:round/>
                      <a:headEnd type="none" w="med" len="med"/>
                      <a:tailEnd type="none" w="med" len="med"/>
                    </a:lnT>
                    <a:lnB w="12700" cap="flat" cmpd="sng" algn="ctr">
                      <a:solidFill>
                        <a:srgbClr val="B5C0BB"/>
                      </a:solidFill>
                      <a:prstDash val="solid"/>
                      <a:round/>
                      <a:headEnd type="none" w="med" len="med"/>
                      <a:tailEnd type="none" w="med" len="med"/>
                    </a:lnB>
                    <a:solidFill>
                      <a:srgbClr val="E3F1EB"/>
                    </a:solidFill>
                  </a:tcPr>
                </a:tc>
              </a:tr>
              <a:tr h="356870">
                <a:tc>
                  <a:txBody>
                    <a:bodyPr/>
                    <a:lstStyle/>
                    <a:p>
                      <a:pPr indent="0" marL="0">
                        <a:lnSpc>
                          <a:spcPts val="1820"/>
                        </a:lnSpc>
                        <a:buNone/>
                      </a:pPr>
                      <a:r>
                        <a:rPr lang="en-US" sz="1300" dirty="0">
                          <a:solidFill>
                            <a:srgbClr val="14201C"/>
                          </a:solidFill>
                          <a:latin typeface="Be Vietnam Pro" pitchFamily="34" charset="0"/>
                          <a:ea typeface="Be Vietnam Pro" pitchFamily="34" charset="-122"/>
                          <a:cs typeface="Be Vietnam Pro" pitchFamily="34" charset="-120"/>
                        </a:rPr>
                        <a:t>Turso</a:t>
                      </a:r>
                      <a:endParaRPr lang="en-US" sz="1300" dirty="0">
                        <a:latin typeface="Be Vietnam Pro" charset="0"/>
                        <a:ea typeface="Be Vietnam Pro" charset="0"/>
                        <a:cs typeface="Be Vietnam Pro" charset="0"/>
                      </a:endParaRPr>
                    </a:p>
                  </a:txBody>
                  <a:tcPr marL="57785" marR="57785" marT="57785" marB="57785" anchor="t">
                    <a:lnL w="0" cap="flat" cmpd="sng" algn="ctr">
                      <a:noFill/>
                    </a:lnL>
                    <a:lnR w="12700" cap="flat" cmpd="sng" algn="ctr">
                      <a:solidFill>
                        <a:srgbClr val="C8C9C8"/>
                      </a:solidFill>
                      <a:prstDash val="solid"/>
                      <a:round/>
                      <a:headEnd type="none" w="med" len="med"/>
                      <a:tailEnd type="none" w="med" len="med"/>
                    </a:lnR>
                    <a:lnT w="12700" cap="flat" cmpd="sng" algn="ctr">
                      <a:solidFill>
                        <a:srgbClr val="B5C0BB"/>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820"/>
                        </a:lnSpc>
                        <a:buNone/>
                      </a:pPr>
                      <a:r>
                        <a:rPr lang="en-US" sz="1300" dirty="0">
                          <a:solidFill>
                            <a:srgbClr val="14201C"/>
                          </a:solidFill>
                          <a:latin typeface="Be Vietnam Pro" pitchFamily="34" charset="0"/>
                          <a:ea typeface="Be Vietnam Pro" pitchFamily="34" charset="-122"/>
                          <a:cs typeface="Be Vietnam Pro" pitchFamily="34" charset="-120"/>
                        </a:rPr>
                        <a:t>SQLite</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B5C0BB"/>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820"/>
                        </a:lnSpc>
                        <a:buNone/>
                      </a:pPr>
                      <a:r>
                        <a:rPr lang="en-US" sz="1300" dirty="0">
                          <a:solidFill>
                            <a:srgbClr val="14201C"/>
                          </a:solidFill>
                          <a:latin typeface="Be Vietnam Pro" pitchFamily="34" charset="0"/>
                          <a:ea typeface="Be Vietnam Pro" pitchFamily="34" charset="-122"/>
                          <a:cs typeface="Be Vietnam Pro" pitchFamily="34" charset="-120"/>
                        </a:rPr>
                        <a:t>5 GB, 500M row reads / month</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B5C0BB"/>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820"/>
                        </a:lnSpc>
                        <a:buNone/>
                      </a:pPr>
                      <a:r>
                        <a:rPr lang="en-US" sz="1300" dirty="0">
                          <a:solidFill>
                            <a:srgbClr val="14201C"/>
                          </a:solidFill>
                          <a:latin typeface="Be Vietnam Pro" pitchFamily="34" charset="0"/>
                          <a:ea typeface="Be Vietnam Pro" pitchFamily="34" charset="-122"/>
                          <a:cs typeface="Be Vietnam Pro" pitchFamily="34" charset="-120"/>
                        </a:rPr>
                        <a:t>No</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B5C0BB"/>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820"/>
                        </a:lnSpc>
                        <a:buNone/>
                      </a:pPr>
                      <a:r>
                        <a:rPr lang="en-US" sz="1300" dirty="0">
                          <a:solidFill>
                            <a:srgbClr val="14201C"/>
                          </a:solidFill>
                          <a:latin typeface="Be Vietnam Pro" pitchFamily="34" charset="0"/>
                          <a:ea typeface="Be Vietnam Pro" pitchFamily="34" charset="-122"/>
                          <a:cs typeface="Be Vietnam Pro" pitchFamily="34" charset="-120"/>
                        </a:rPr>
                        <a:t>Option 2: most storage, own auth</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B5C0BB"/>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r>
              <a:tr h="356870">
                <a:tc>
                  <a:txBody>
                    <a:bodyPr/>
                    <a:lstStyle/>
                    <a:p>
                      <a:pPr indent="0" marL="0">
                        <a:lnSpc>
                          <a:spcPts val="1820"/>
                        </a:lnSpc>
                        <a:buNone/>
                      </a:pPr>
                      <a:r>
                        <a:rPr lang="en-US" sz="1300" dirty="0">
                          <a:solidFill>
                            <a:srgbClr val="14201C"/>
                          </a:solidFill>
                          <a:latin typeface="Be Vietnam Pro" pitchFamily="34" charset="0"/>
                          <a:ea typeface="Be Vietnam Pro" pitchFamily="34" charset="-122"/>
                          <a:cs typeface="Be Vietnam Pro" pitchFamily="34" charset="-120"/>
                        </a:rPr>
                        <a:t>Neon</a:t>
                      </a:r>
                      <a:endParaRPr lang="en-US" sz="1300" dirty="0">
                        <a:latin typeface="Be Vietnam Pro" charset="0"/>
                        <a:ea typeface="Be Vietnam Pro" charset="0"/>
                        <a:cs typeface="Be Vietnam Pro" charset="0"/>
                      </a:endParaRPr>
                    </a:p>
                  </a:txBody>
                  <a:tcPr marL="57785" marR="57785" marT="57785" marB="57785" anchor="t">
                    <a:lnL w="0" cap="flat" cmpd="sng" algn="ctr">
                      <a:noFill/>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820"/>
                        </a:lnSpc>
                        <a:buNone/>
                      </a:pPr>
                      <a:r>
                        <a:rPr lang="en-US" sz="1300" dirty="0">
                          <a:solidFill>
                            <a:srgbClr val="14201C"/>
                          </a:solidFill>
                          <a:latin typeface="Be Vietnam Pro" pitchFamily="34" charset="0"/>
                          <a:ea typeface="Be Vietnam Pro" pitchFamily="34" charset="-122"/>
                          <a:cs typeface="Be Vietnam Pro" pitchFamily="34" charset="-120"/>
                        </a:rPr>
                        <a:t>Postgres</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820"/>
                        </a:lnSpc>
                        <a:buNone/>
                      </a:pPr>
                      <a:r>
                        <a:rPr lang="en-US" sz="1300" dirty="0">
                          <a:solidFill>
                            <a:srgbClr val="14201C"/>
                          </a:solidFill>
                          <a:latin typeface="Be Vietnam Pro" pitchFamily="34" charset="0"/>
                          <a:ea typeface="Be Vietnam Pro" pitchFamily="34" charset="-122"/>
                          <a:cs typeface="Be Vietnam Pro" pitchFamily="34" charset="-120"/>
                        </a:rPr>
                        <a:t>0.5 GB, 100 CU-hours / month</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820"/>
                        </a:lnSpc>
                        <a:buNone/>
                      </a:pPr>
                      <a:r>
                        <a:rPr lang="en-US" sz="1300" dirty="0">
                          <a:solidFill>
                            <a:srgbClr val="14201C"/>
                          </a:solidFill>
                          <a:latin typeface="Be Vietnam Pro" pitchFamily="34" charset="0"/>
                          <a:ea typeface="Be Vietnam Pro" pitchFamily="34" charset="-122"/>
                          <a:cs typeface="Be Vietnam Pro" pitchFamily="34" charset="-120"/>
                        </a:rPr>
                        <a:t>No</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820"/>
                        </a:lnSpc>
                        <a:buNone/>
                      </a:pPr>
                      <a:r>
                        <a:rPr lang="en-US" sz="1300" dirty="0">
                          <a:solidFill>
                            <a:srgbClr val="14201C"/>
                          </a:solidFill>
                          <a:latin typeface="Be Vietnam Pro" pitchFamily="34" charset="0"/>
                          <a:ea typeface="Be Vietnam Pro" pitchFamily="34" charset="-122"/>
                          <a:cs typeface="Be Vietnam Pro" pitchFamily="34" charset="-120"/>
                        </a:rPr>
                        <a:t>Sleeps after 5 idle minutes</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r>
              <a:tr h="356870">
                <a:tc>
                  <a:txBody>
                    <a:bodyPr/>
                    <a:lstStyle/>
                    <a:p>
                      <a:pPr indent="0" marL="0">
                        <a:lnSpc>
                          <a:spcPts val="1820"/>
                        </a:lnSpc>
                        <a:buNone/>
                      </a:pPr>
                      <a:r>
                        <a:rPr lang="en-US" sz="1300" dirty="0">
                          <a:solidFill>
                            <a:srgbClr val="14201C"/>
                          </a:solidFill>
                          <a:latin typeface="Be Vietnam Pro" pitchFamily="34" charset="0"/>
                          <a:ea typeface="Be Vietnam Pro" pitchFamily="34" charset="-122"/>
                          <a:cs typeface="Be Vietnam Pro" pitchFamily="34" charset="-120"/>
                        </a:rPr>
                        <a:t>Firebase</a:t>
                      </a:r>
                      <a:endParaRPr lang="en-US" sz="1300" dirty="0">
                        <a:latin typeface="Be Vietnam Pro" charset="0"/>
                        <a:ea typeface="Be Vietnam Pro" charset="0"/>
                        <a:cs typeface="Be Vietnam Pro" charset="0"/>
                      </a:endParaRPr>
                    </a:p>
                  </a:txBody>
                  <a:tcPr marL="57785" marR="57785" marT="57785" marB="57785" anchor="t">
                    <a:lnL w="0" cap="flat" cmpd="sng" algn="ctr">
                      <a:noFill/>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820"/>
                        </a:lnSpc>
                        <a:buNone/>
                      </a:pPr>
                      <a:r>
                        <a:rPr lang="en-US" sz="1300" dirty="0">
                          <a:solidFill>
                            <a:srgbClr val="14201C"/>
                          </a:solidFill>
                          <a:latin typeface="Be Vietnam Pro" pitchFamily="34" charset="0"/>
                          <a:ea typeface="Be Vietnam Pro" pitchFamily="34" charset="-122"/>
                          <a:cs typeface="Be Vietnam Pro" pitchFamily="34" charset="-120"/>
                        </a:rPr>
                        <a:t>NoSQL</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820"/>
                        </a:lnSpc>
                        <a:buNone/>
                      </a:pPr>
                      <a:r>
                        <a:rPr lang="en-US" sz="1300" dirty="0">
                          <a:solidFill>
                            <a:srgbClr val="14201C"/>
                          </a:solidFill>
                          <a:latin typeface="Be Vietnam Pro" pitchFamily="34" charset="0"/>
                          <a:ea typeface="Be Vietnam Pro" pitchFamily="34" charset="-122"/>
                          <a:cs typeface="Be Vietnam Pro" pitchFamily="34" charset="-120"/>
                        </a:rPr>
                        <a:t>1 GiB, 50,000 reads / day</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820"/>
                        </a:lnSpc>
                        <a:buNone/>
                      </a:pPr>
                      <a:r>
                        <a:rPr lang="en-US" sz="1300" dirty="0">
                          <a:solidFill>
                            <a:srgbClr val="14201C"/>
                          </a:solidFill>
                          <a:latin typeface="Be Vietnam Pro" pitchFamily="34" charset="0"/>
                          <a:ea typeface="Be Vietnam Pro" pitchFamily="34" charset="-122"/>
                          <a:cs typeface="Be Vietnam Pro" pitchFamily="34" charset="-120"/>
                        </a:rPr>
                        <a:t>Yes</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820"/>
                        </a:lnSpc>
                        <a:buNone/>
                      </a:pPr>
                      <a:r>
                        <a:rPr lang="en-US" sz="1300" dirty="0">
                          <a:solidFill>
                            <a:srgbClr val="14201C"/>
                          </a:solidFill>
                          <a:latin typeface="Be Vietnam Pro" pitchFamily="34" charset="0"/>
                          <a:ea typeface="Be Vietnam Pro" pitchFamily="34" charset="-122"/>
                          <a:cs typeface="Be Vietnam Pro" pitchFamily="34" charset="-120"/>
                        </a:rPr>
                        <a:t>Weekly stats harder without SQL</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r>
              <a:tr h="356870">
                <a:tc>
                  <a:txBody>
                    <a:bodyPr/>
                    <a:lstStyle/>
                    <a:p>
                      <a:pPr indent="0" marL="0">
                        <a:lnSpc>
                          <a:spcPts val="1820"/>
                        </a:lnSpc>
                        <a:buNone/>
                      </a:pPr>
                      <a:r>
                        <a:rPr lang="en-US" sz="1300" dirty="0">
                          <a:solidFill>
                            <a:srgbClr val="14201C"/>
                          </a:solidFill>
                          <a:latin typeface="Be Vietnam Pro" pitchFamily="34" charset="0"/>
                          <a:ea typeface="Be Vietnam Pro" pitchFamily="34" charset="-122"/>
                          <a:cs typeface="Be Vietnam Pro" pitchFamily="34" charset="-120"/>
                        </a:rPr>
                        <a:t>MongoDB Atlas</a:t>
                      </a:r>
                      <a:endParaRPr lang="en-US" sz="1300" dirty="0">
                        <a:latin typeface="Be Vietnam Pro" charset="0"/>
                        <a:ea typeface="Be Vietnam Pro" charset="0"/>
                        <a:cs typeface="Be Vietnam Pro" charset="0"/>
                      </a:endParaRPr>
                    </a:p>
                  </a:txBody>
                  <a:tcPr marL="57785" marR="57785" marT="57785" marB="57785" anchor="t">
                    <a:lnL w="0" cap="flat" cmpd="sng" algn="ctr">
                      <a:noFill/>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820"/>
                        </a:lnSpc>
                        <a:buNone/>
                      </a:pPr>
                      <a:r>
                        <a:rPr lang="en-US" sz="1300" dirty="0">
                          <a:solidFill>
                            <a:srgbClr val="14201C"/>
                          </a:solidFill>
                          <a:latin typeface="Be Vietnam Pro" pitchFamily="34" charset="0"/>
                          <a:ea typeface="Be Vietnam Pro" pitchFamily="34" charset="-122"/>
                          <a:cs typeface="Be Vietnam Pro" pitchFamily="34" charset="-120"/>
                        </a:rPr>
                        <a:t>NoSQL</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820"/>
                        </a:lnSpc>
                        <a:buNone/>
                      </a:pPr>
                      <a:r>
                        <a:rPr lang="en-US" sz="1300" dirty="0">
                          <a:solidFill>
                            <a:srgbClr val="14201C"/>
                          </a:solidFill>
                          <a:latin typeface="Be Vietnam Pro" pitchFamily="34" charset="0"/>
                          <a:ea typeface="Be Vietnam Pro" pitchFamily="34" charset="-122"/>
                          <a:cs typeface="Be Vietnam Pro" pitchFamily="34" charset="-120"/>
                        </a:rPr>
                        <a:t>512 MB</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820"/>
                        </a:lnSpc>
                        <a:buNone/>
                      </a:pPr>
                      <a:r>
                        <a:rPr lang="en-US" sz="1300" dirty="0">
                          <a:solidFill>
                            <a:srgbClr val="14201C"/>
                          </a:solidFill>
                          <a:latin typeface="Be Vietnam Pro" pitchFamily="34" charset="0"/>
                          <a:ea typeface="Be Vietnam Pro" pitchFamily="34" charset="-122"/>
                          <a:cs typeface="Be Vietnam Pro" pitchFamily="34" charset="-120"/>
                        </a:rPr>
                        <a:t>No</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820"/>
                        </a:lnSpc>
                        <a:buNone/>
                      </a:pPr>
                      <a:r>
                        <a:rPr lang="en-US" sz="1300" dirty="0">
                          <a:solidFill>
                            <a:srgbClr val="14201C"/>
                          </a:solidFill>
                          <a:latin typeface="Be Vietnam Pro" pitchFamily="34" charset="0"/>
                          <a:ea typeface="Be Vietnam Pro" pitchFamily="34" charset="-122"/>
                          <a:cs typeface="Be Vietnam Pro" pitchFamily="34" charset="-120"/>
                        </a:rPr>
                        <a:t>No backups on the free tier</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r>
            </a:tbl>
          </a:graphicData>
        </a:graphic>
      </p:graphicFrame>
      <p:sp>
        <p:nvSpPr>
          <p:cNvPr id="8" name="Text 5"/>
          <p:cNvSpPr/>
          <p:nvPr/>
        </p:nvSpPr>
        <p:spPr>
          <a:xfrm>
            <a:off x="812800" y="4419600"/>
            <a:ext cx="10883392" cy="50419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E5D57"/>
                </a:solidFill>
                <a:latin typeface="Be Vietnam Pro" pitchFamily="34" charset="0"/>
                <a:ea typeface="Be Vietnam Pro" pitchFamily="34" charset="-122"/>
                <a:cs typeface="Be Vietnam Pro" pitchFamily="34" charset="-120"/>
              </a:rPr>
              <a:t>One user ≈ 0.5 MB a year, so 500 MB holds about 1,000 user-years. Without built-in auth we add an auth provider box to the diagram.</a:t>
            </a:r>
            <a:endParaRPr lang="en-US" sz="1300" dirty="0"/>
          </a:p>
        </p:txBody>
      </p:sp>
      <p:sp>
        <p:nvSpPr>
          <p:cNvPr id="9" name="Text 6"/>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873"/>
                </a:solidFill>
                <a:latin typeface="Be Vietnam Pro" pitchFamily="34" charset="0"/>
                <a:ea typeface="Be Vietnam Pro" pitchFamily="34" charset="-122"/>
                <a:cs typeface="Be Vietnam Pro" pitchFamily="34" charset="-120"/>
              </a:rPr>
              <a:t>Free-tier figures from provider pricing pages and reviews, October 2026; check again before committing.</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201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8A5C"/>
                </a:solidFill>
                <a:latin typeface="JetBrains Mono" pitchFamily="49" charset="0"/>
                <a:ea typeface="JetBrains Mono" pitchFamily="49" charset="-122"/>
                <a:cs typeface="JetBrains Mono" pitchFamily="49" charset="-120"/>
              </a:rPr>
              <a:t>OPEN QUESTIONS</a:t>
            </a:r>
            <a:endParaRPr lang="en-US" sz="1200" dirty="0"/>
          </a:p>
        </p:txBody>
      </p:sp>
      <p:sp>
        <p:nvSpPr>
          <p:cNvPr id="3" name="Text 1"/>
          <p:cNvSpPr/>
          <p:nvPr>
            <p:ph type="title"/>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3F6F5"/>
                </a:solidFill>
                <a:latin typeface="Be Vietnam Pro" pitchFamily="34" charset="0"/>
                <a:ea typeface="Be Vietnam Pro" pitchFamily="34" charset="-122"/>
                <a:cs typeface="Be Vietnam Pro" pitchFamily="34" charset="-120"/>
              </a:rPr>
              <a:t>Decisions that would change the diagram</a:t>
            </a:r>
            <a:endParaRPr lang="en-US" sz="3200" dirty="0"/>
          </a:p>
        </p:txBody>
      </p:sp>
      <p:sp>
        <p:nvSpPr>
          <p:cNvPr id="4" name="Shape 2"/>
          <p:cNvSpPr/>
          <p:nvPr/>
        </p:nvSpPr>
        <p:spPr>
          <a:xfrm>
            <a:off x="812800" y="1835150"/>
            <a:ext cx="5283200" cy="0"/>
          </a:xfrm>
          <a:prstGeom prst="line">
            <a:avLst/>
          </a:prstGeom>
          <a:noFill/>
          <a:ln w="12700">
            <a:solidFill>
              <a:srgbClr val="3A4A44"/>
            </a:solidFill>
            <a:prstDash val="solid"/>
          </a:ln>
        </p:spPr>
      </p:sp>
      <p:sp>
        <p:nvSpPr>
          <p:cNvPr id="5" name="Text 3"/>
          <p:cNvSpPr/>
          <p:nvPr/>
        </p:nvSpPr>
        <p:spPr>
          <a:xfrm>
            <a:off x="812800" y="1965964"/>
            <a:ext cx="5441696"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6F5"/>
                </a:solidFill>
                <a:latin typeface="Be Vietnam Pro" pitchFamily="34" charset="0"/>
                <a:ea typeface="Be Vietnam Pro" pitchFamily="34" charset="-122"/>
                <a:cs typeface="Be Vietnam Pro" pitchFamily="34" charset="-120"/>
              </a:rPr>
              <a:t>Food photos?</a:t>
            </a:r>
            <a:endParaRPr lang="en-US" sz="1600" dirty="0"/>
          </a:p>
        </p:txBody>
      </p:sp>
      <p:sp>
        <p:nvSpPr>
          <p:cNvPr id="6" name="Text 4"/>
          <p:cNvSpPr/>
          <p:nvPr/>
        </p:nvSpPr>
        <p:spPr>
          <a:xfrm>
            <a:off x="812800" y="2247900"/>
            <a:ext cx="5441696"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9C8C2"/>
                </a:solidFill>
                <a:latin typeface="Be Vietnam Pro" pitchFamily="34" charset="0"/>
                <a:ea typeface="Be Vietnam Pro" pitchFamily="34" charset="-122"/>
                <a:cs typeface="Be Vietnam Pro" pitchFamily="34" charset="-120"/>
              </a:rPr>
              <a:t>Strip location data on the phone, never store the image</a:t>
            </a:r>
            <a:endParaRPr lang="en-US" sz="1300" dirty="0"/>
          </a:p>
        </p:txBody>
      </p:sp>
      <p:sp>
        <p:nvSpPr>
          <p:cNvPr id="7" name="Shape 5"/>
          <p:cNvSpPr/>
          <p:nvPr/>
        </p:nvSpPr>
        <p:spPr>
          <a:xfrm>
            <a:off x="6096000" y="1835150"/>
            <a:ext cx="5283200" cy="0"/>
          </a:xfrm>
          <a:prstGeom prst="line">
            <a:avLst/>
          </a:prstGeom>
          <a:noFill/>
          <a:ln w="12700">
            <a:solidFill>
              <a:srgbClr val="3A4A44"/>
            </a:solidFill>
            <a:prstDash val="solid"/>
          </a:ln>
        </p:spPr>
      </p:sp>
      <p:sp>
        <p:nvSpPr>
          <p:cNvPr id="8" name="Text 6"/>
          <p:cNvSpPr/>
          <p:nvPr/>
        </p:nvSpPr>
        <p:spPr>
          <a:xfrm>
            <a:off x="6096000" y="1965964"/>
            <a:ext cx="5441696"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6F5"/>
                </a:solidFill>
                <a:latin typeface="Be Vietnam Pro" pitchFamily="34" charset="0"/>
                <a:ea typeface="Be Vietnam Pro" pitchFamily="34" charset="-122"/>
                <a:cs typeface="Be Vietnam Pro" pitchFamily="34" charset="-120"/>
              </a:rPr>
              <a:t>App-suggested menus?</a:t>
            </a:r>
            <a:endParaRPr lang="en-US" sz="1600" dirty="0"/>
          </a:p>
        </p:txBody>
      </p:sp>
      <p:sp>
        <p:nvSpPr>
          <p:cNvPr id="9" name="Text 7"/>
          <p:cNvSpPr/>
          <p:nvPr/>
        </p:nvSpPr>
        <p:spPr>
          <a:xfrm>
            <a:off x="6096000" y="2247900"/>
            <a:ext cx="5441696"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9C8C2"/>
                </a:solidFill>
                <a:latin typeface="Be Vietnam Pro" pitchFamily="34" charset="0"/>
                <a:ea typeface="Be Vietnam Pro" pitchFamily="34" charset="-122"/>
                <a:cs typeface="Be Vietnam Pro" pitchFamily="34" charset="-120"/>
              </a:rPr>
              <a:t>Allergies would be new health data (L3)</a:t>
            </a:r>
            <a:endParaRPr lang="en-US" sz="1300" dirty="0"/>
          </a:p>
        </p:txBody>
      </p:sp>
      <p:sp>
        <p:nvSpPr>
          <p:cNvPr id="10" name="Shape 8"/>
          <p:cNvSpPr/>
          <p:nvPr/>
        </p:nvSpPr>
        <p:spPr>
          <a:xfrm>
            <a:off x="812800" y="2485392"/>
            <a:ext cx="5283200" cy="0"/>
          </a:xfrm>
          <a:prstGeom prst="line">
            <a:avLst/>
          </a:prstGeom>
          <a:noFill/>
          <a:ln w="12700">
            <a:solidFill>
              <a:srgbClr val="3A4A44"/>
            </a:solidFill>
            <a:prstDash val="solid"/>
          </a:ln>
        </p:spPr>
      </p:sp>
      <p:sp>
        <p:nvSpPr>
          <p:cNvPr id="11" name="Text 9"/>
          <p:cNvSpPr/>
          <p:nvPr/>
        </p:nvSpPr>
        <p:spPr>
          <a:xfrm>
            <a:off x="812800" y="2616200"/>
            <a:ext cx="5441696"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6F5"/>
                </a:solidFill>
                <a:latin typeface="Be Vietnam Pro" pitchFamily="34" charset="0"/>
                <a:ea typeface="Be Vietnam Pro" pitchFamily="34" charset="-122"/>
                <a:cs typeface="Be Vietnam Pro" pitchFamily="34" charset="-120"/>
              </a:rPr>
              <a:t>Native app or PWA?</a:t>
            </a:r>
            <a:endParaRPr lang="en-US" sz="1600" dirty="0"/>
          </a:p>
        </p:txBody>
      </p:sp>
      <p:sp>
        <p:nvSpPr>
          <p:cNvPr id="12" name="Text 10"/>
          <p:cNvSpPr/>
          <p:nvPr/>
        </p:nvSpPr>
        <p:spPr>
          <a:xfrm>
            <a:off x="812800" y="2898142"/>
            <a:ext cx="5441696"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9C8C2"/>
                </a:solidFill>
                <a:latin typeface="Be Vietnam Pro" pitchFamily="34" charset="0"/>
                <a:ea typeface="Be Vietnam Pro" pitchFamily="34" charset="-122"/>
                <a:cs typeface="Be Vietnam Pro" pitchFamily="34" charset="-120"/>
              </a:rPr>
              <a:t>Decides token storage and the push channel</a:t>
            </a:r>
            <a:endParaRPr lang="en-US" sz="1300" dirty="0"/>
          </a:p>
        </p:txBody>
      </p:sp>
      <p:sp>
        <p:nvSpPr>
          <p:cNvPr id="13" name="Shape 11"/>
          <p:cNvSpPr/>
          <p:nvPr/>
        </p:nvSpPr>
        <p:spPr>
          <a:xfrm>
            <a:off x="6096000" y="2485392"/>
            <a:ext cx="5283200" cy="0"/>
          </a:xfrm>
          <a:prstGeom prst="line">
            <a:avLst/>
          </a:prstGeom>
          <a:noFill/>
          <a:ln w="12700">
            <a:solidFill>
              <a:srgbClr val="3A4A44"/>
            </a:solidFill>
            <a:prstDash val="solid"/>
          </a:ln>
        </p:spPr>
      </p:sp>
      <p:sp>
        <p:nvSpPr>
          <p:cNvPr id="14" name="Text 12"/>
          <p:cNvSpPr/>
          <p:nvPr/>
        </p:nvSpPr>
        <p:spPr>
          <a:xfrm>
            <a:off x="6096000" y="2616200"/>
            <a:ext cx="5441696"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6F5"/>
                </a:solidFill>
                <a:latin typeface="Be Vietnam Pro" pitchFamily="34" charset="0"/>
                <a:ea typeface="Be Vietnam Pro" pitchFamily="34" charset="-122"/>
                <a:cs typeface="Be Vietnam Pro" pitchFamily="34" charset="-120"/>
              </a:rPr>
              <a:t>Minimum age?</a:t>
            </a:r>
            <a:endParaRPr lang="en-US" sz="1600" dirty="0"/>
          </a:p>
        </p:txBody>
      </p:sp>
      <p:sp>
        <p:nvSpPr>
          <p:cNvPr id="15" name="Text 13"/>
          <p:cNvSpPr/>
          <p:nvPr/>
        </p:nvSpPr>
        <p:spPr>
          <a:xfrm>
            <a:off x="6096000" y="2898142"/>
            <a:ext cx="5441696"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9C8C2"/>
                </a:solidFill>
                <a:latin typeface="Be Vietnam Pro" pitchFamily="34" charset="0"/>
                <a:ea typeface="Be Vietnam Pro" pitchFamily="34" charset="-122"/>
                <a:cs typeface="Be Vietnam Pro" pitchFamily="34" charset="-120"/>
              </a:rPr>
              <a:t>18+ only, or under-18s with parental consent</a:t>
            </a:r>
            <a:endParaRPr lang="en-US" sz="1300" dirty="0"/>
          </a:p>
        </p:txBody>
      </p:sp>
      <p:sp>
        <p:nvSpPr>
          <p:cNvPr id="16" name="Shape 14"/>
          <p:cNvSpPr/>
          <p:nvPr/>
        </p:nvSpPr>
        <p:spPr>
          <a:xfrm>
            <a:off x="812800" y="3135629"/>
            <a:ext cx="5283200" cy="0"/>
          </a:xfrm>
          <a:prstGeom prst="line">
            <a:avLst/>
          </a:prstGeom>
          <a:noFill/>
          <a:ln w="12700">
            <a:solidFill>
              <a:srgbClr val="3A4A44"/>
            </a:solidFill>
            <a:prstDash val="solid"/>
          </a:ln>
        </p:spPr>
      </p:sp>
      <p:sp>
        <p:nvSpPr>
          <p:cNvPr id="17" name="Text 15"/>
          <p:cNvSpPr/>
          <p:nvPr/>
        </p:nvSpPr>
        <p:spPr>
          <a:xfrm>
            <a:off x="812800" y="3266442"/>
            <a:ext cx="5441696"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6F5"/>
                </a:solidFill>
                <a:latin typeface="Be Vietnam Pro" pitchFamily="34" charset="0"/>
                <a:ea typeface="Be Vietnam Pro" pitchFamily="34" charset="-122"/>
                <a:cs typeface="Be Vietnam Pro" pitchFamily="34" charset="-120"/>
              </a:rPr>
              <a:t>Which LLM plan?</a:t>
            </a:r>
            <a:endParaRPr lang="en-US" sz="1600" dirty="0"/>
          </a:p>
        </p:txBody>
      </p:sp>
      <p:sp>
        <p:nvSpPr>
          <p:cNvPr id="18" name="Text 16"/>
          <p:cNvSpPr/>
          <p:nvPr/>
        </p:nvSpPr>
        <p:spPr>
          <a:xfrm>
            <a:off x="812800" y="3548379"/>
            <a:ext cx="5441696"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9C8C2"/>
                </a:solidFill>
                <a:latin typeface="Be Vietnam Pro" pitchFamily="34" charset="0"/>
                <a:ea typeface="Be Vietnam Pro" pitchFamily="34" charset="-122"/>
                <a:cs typeface="Be Vietnam Pro" pitchFamily="34" charset="-120"/>
              </a:rPr>
              <a:t>Its terms must rule out training on our data</a:t>
            </a:r>
            <a:endParaRPr lang="en-US" sz="1300" dirty="0"/>
          </a:p>
        </p:txBody>
      </p:sp>
      <p:sp>
        <p:nvSpPr>
          <p:cNvPr id="19" name="Shape 17"/>
          <p:cNvSpPr/>
          <p:nvPr/>
        </p:nvSpPr>
        <p:spPr>
          <a:xfrm>
            <a:off x="6096000" y="3135629"/>
            <a:ext cx="5283200" cy="0"/>
          </a:xfrm>
          <a:prstGeom prst="line">
            <a:avLst/>
          </a:prstGeom>
          <a:noFill/>
          <a:ln w="12700">
            <a:solidFill>
              <a:srgbClr val="3A4A44"/>
            </a:solidFill>
            <a:prstDash val="solid"/>
          </a:ln>
        </p:spPr>
      </p:sp>
      <p:sp>
        <p:nvSpPr>
          <p:cNvPr id="20" name="Text 18"/>
          <p:cNvSpPr/>
          <p:nvPr/>
        </p:nvSpPr>
        <p:spPr>
          <a:xfrm>
            <a:off x="6096000" y="3266442"/>
            <a:ext cx="5441696"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6F5"/>
                </a:solidFill>
                <a:latin typeface="Be Vietnam Pro" pitchFamily="34" charset="0"/>
                <a:ea typeface="Be Vietnam Pro" pitchFamily="34" charset="-122"/>
                <a:cs typeface="Be Vietnam Pro" pitchFamily="34" charset="-120"/>
              </a:rPr>
              <a:t>How long to keep logs?</a:t>
            </a:r>
            <a:endParaRPr lang="en-US" sz="1600" dirty="0"/>
          </a:p>
        </p:txBody>
      </p:sp>
      <p:sp>
        <p:nvSpPr>
          <p:cNvPr id="21" name="Text 19"/>
          <p:cNvSpPr/>
          <p:nvPr/>
        </p:nvSpPr>
        <p:spPr>
          <a:xfrm>
            <a:off x="6096000" y="3548379"/>
            <a:ext cx="5441696"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9C8C2"/>
                </a:solidFill>
                <a:latin typeface="Be Vietnam Pro" pitchFamily="34" charset="0"/>
                <a:ea typeface="Be Vietnam Pro" pitchFamily="34" charset="-122"/>
                <a:cs typeface="Be Vietnam Pro" pitchFamily="34" charset="-120"/>
              </a:rPr>
              <a:t>Proposed: 12 months, then keep only totals</a:t>
            </a:r>
            <a:endParaRPr lang="en-US" sz="1300" dirty="0"/>
          </a:p>
        </p:txBody>
      </p:sp>
    </p:spTree>
  </p:cSld>
  <p:clrMapOvr>
    <a:masterClrMapping/>
  </p:clrMapOvr>
</p:sld>
</file>

<file path=ppt/theme/theme1.xml><?xml version="1.0" encoding="utf-8"?>
<a:theme xmlns:a="http://schemas.openxmlformats.org/drawingml/2006/main" name="FitLens Data &amp; Security">
  <a:themeElements>
    <a:clrScheme name="FitLens Data &amp; Security">
      <a:dk1>
        <a:srgbClr val="14201C"/>
      </a:dk1>
      <a:lt1>
        <a:srgbClr val="F3F6F5"/>
      </a:lt1>
      <a:dk2>
        <a:srgbClr val="4C5652"/>
      </a:dk2>
      <a:lt2>
        <a:srgbClr val="DDE1DF"/>
      </a:lt2>
      <a:accent1>
        <a:srgbClr val="B83A15"/>
      </a:accent1>
      <a:accent2>
        <a:srgbClr val="B02A45"/>
      </a:accent2>
      <a:accent3>
        <a:srgbClr val="FF8A5C"/>
      </a:accent3>
      <a:accent4>
        <a:srgbClr val="FFD9C9"/>
      </a:accent4>
      <a:accent5>
        <a:srgbClr val="0A7A5B"/>
      </a:accent5>
      <a:accent6>
        <a:srgbClr val="8F5C0B"/>
      </a:accent6>
      <a:hlink>
        <a:srgbClr val="0563C1"/>
      </a:hlink>
      <a:folHlink>
        <a:srgbClr val="954F72"/>
      </a:folHlink>
    </a:clrScheme>
    <a:fontScheme name="FitLens Data &amp; Security">
      <a:majorFont>
        <a:latin typeface="Be Vietnam Pr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e Vietnam Pr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FitLens Data &amp; Security</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Be Vietnam Pro
Copyright 2021 The Be Vietnam Pro Project Authors (https://github.com/bettergui/BeVietnamPro),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2026-10-21T10:24:08Z</dcterms:created>
  <dcterms:modified xsi:type="dcterms:W3CDTF">2026-10-21T10:24:08Z</dcterms:modified>
</cp:coreProperties>
</file>