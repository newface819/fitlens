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KỊCH BẢN THUYẾT TRÌNH THA (6-7 phút)]:</a:t>
            </a:r>
          </a:p>
          <a:p>
            <a:r>
              <a:t>Chào anh/thầy THA, em là Gia Huy đại diện Nhóm 01 trình bày System Blueprint của dự án FitLens.</a:t>
            </a:r>
          </a:p>
          <a:p>
            <a:r>
              <a:t>- FitLens là ứng dụng AI Virtual Personal Trainer trên mobile dành cho sinh viên và giới trẻ.</a:t>
            </a:r>
          </a:p>
          <a:p>
            <a:r>
              <a:t>- 4 trụ cột kiến trúc:</a:t>
            </a:r>
          </a:p>
          <a:p>
            <a:r>
              <a:t>  1. Mobile Client: Chọn Flutter giúp cross-platform, tích hợp SQLite offline-first và Growing Avatar tạo động lực.</a:t>
            </a:r>
          </a:p>
          <a:p>
            <a:r>
              <a:t>  2. On-Device Vision: Sử dụng MediaPipe Pose chạy thẳng trên RAM điện thoại. Cam kết Zero Video Retention: Khung hình chỉ trích xuất tọa độ 33 khớp xương rồi hủy ngay, backend không có endpoint nhận video.</a:t>
            </a:r>
          </a:p>
          <a:p>
            <a:r>
              <a:t>  3. Backend Core: Dùng FastAPI siêu nhẹ, gồm Safety Router ngắt khi có chấn thương, Rules Engine kiểm soát bài tập và bộ Pseudonymizer ẩn danh hóa dữ liệu trước khi gửi LLM.</a:t>
            </a:r>
          </a:p>
          <a:p>
            <a:r>
              <a:t>  4. Free Cloud: Tận dụng hoàn toàn Gemini 3.8 Flash Free Tier và Supabase Postgres (có sẵn Auth và RLS). Toàn bộ chi phí hạ tầng là 0đ.</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KỊCH BẢN THUYẾT TRÌNH THA (7-8 phút)]:</a:t>
            </a:r>
          </a:p>
          <a:p>
            <a:r>
              <a:t>Ở slide này em làm rõ 2 luồng dữ liệu cốt lõi:</a:t>
            </a:r>
          </a:p>
          <a:p>
            <a:r>
              <a:t>1. Luồng Camera On-Demand:</a:t>
            </a:r>
          </a:p>
          <a:p>
            <a:r>
              <a:t>   - Trong UML, ca sử dụng 'Check Posture with Camera' mở rộng («extend») vào 'Perform Workout'. Người dùng không bị ép soi camera suốt buổi, chỉ bật khi cần kiểm tra bài mới.</a:t>
            </a:r>
          </a:p>
          <a:p>
            <a:r>
              <a:t>   - Nhờ xử lý on-device, nút 'Tôi bị đau' ngắt tập ngay trên máy không phụ thuộc internet.</a:t>
            </a:r>
          </a:p>
          <a:p>
            <a:r>
              <a:t>2. Luồng Hỏi Coach &amp; Sinh Lịch:</a:t>
            </a:r>
          </a:p>
          <a:p>
            <a:r>
              <a:t>   - LLM không tự ý chọn bài tập nguy hiểm. Rules Engine chọn bài, LLM chỉ đóng vai trò diễn giải lời văn.</a:t>
            </a:r>
          </a:p>
          <a:p>
            <a:r>
              <a:t>   - Cơ chế bảo vệ dữ liệu: Dữ liệu gửi sang Gemini được ẩn danh hoàn toàn (age_band, bmi_band, restriction tags).</a:t>
            </a:r>
          </a:p>
          <a:p>
            <a:r>
              <a:t>   - Cơ chế dự phòng: Nếu API Free bị nghẽn 429, hệ thống có Exponential Backoff 5 lần và tự động kích hoạt câu trả lời soạn sẵn, đảm bảo ứng dụng không bao giờ bị đơ.</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KỊCH BẢN THUYẾT TRÌNH THA (5-6 phút)]:</a:t>
            </a:r>
          </a:p>
          <a:p>
            <a:r>
              <a:t>Slide cuối cùng chứng minh tính khả thi về công nghệ và bài toán chi phí:</a:t>
            </a:r>
          </a:p>
          <a:p>
            <a:r>
              <a:t>- Cam kết 0 đồng: Toàn bộ stack được lựa chọn đều có Free Tier dồi dào, không đòi hỏi thẻ tín dụng hay chi phí phát sinh.</a:t>
            </a:r>
          </a:p>
          <a:p>
            <a:r>
              <a:t>- Tính khả thi của dữ liệu: 1 người dùng tập 1 năm chỉ tốn khoảng 0.5 MB dữ liệu văn bản. Gói 500 MB của Supabase dư sức chứa 1.000 user-năm.</a:t>
            </a:r>
          </a:p>
          <a:p>
            <a:r>
              <a:t>- Tính sáng tạo: Kết hợp giữa On-device Computer Vision bảo vệ quyền riêng tư, giải thuật bù trừ calo thông minh theo RPE, và LLM Coach có cơ chế guardrail chống hallucination.</a:t>
            </a:r>
          </a:p>
          <a:p>
            <a:r>
              <a:t>Em xin kết thúc bài báo cáo và sẵn sàng nhận góp ý từ anh/thầy THA.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698480" cy="1188720"/>
          </a:xfrm>
          <a:prstGeom prst="rect">
            <a:avLst/>
          </a:prstGeom>
          <a:noFill/>
        </p:spPr>
        <p:txBody>
          <a:bodyPr wrap="square">
            <a:spAutoFit/>
          </a:bodyPr>
          <a:lstStyle/>
          <a:p>
            <a:pPr>
              <a:defRPr sz="2800" b="1">
                <a:solidFill>
                  <a:srgbClr val="0EA5E9"/>
                </a:solidFill>
              </a:defRPr>
            </a:pPr>
            <a:r>
              <a:t>FITLENS — SYSTEM BLUEPRINT</a:t>
            </a:r>
          </a:p>
          <a:p>
            <a:pPr>
              <a:defRPr sz="1600">
                <a:solidFill>
                  <a:srgbClr val="94A3B8"/>
                </a:solidFill>
              </a:defRPr>
            </a:pPr>
            <a:r>
              <a:t>Tổng quan kiến trúc: On-Device Vision, Offline-First Mobile &amp; Cloud AI 0đ (Nhóm 01 · CSC10014)</a:t>
            </a:r>
          </a:p>
        </p:txBody>
      </p:sp>
      <p:sp>
        <p:nvSpPr>
          <p:cNvPr id="3" name="Rectangle 2"/>
          <p:cNvSpPr/>
          <p:nvPr/>
        </p:nvSpPr>
        <p:spPr>
          <a:xfrm>
            <a:off x="731520" y="2011680"/>
            <a:ext cx="2468880" cy="4114800"/>
          </a:xfrm>
          <a:prstGeom prst="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defRPr>
            </a:pPr>
            <a:r>
              <a:t>1. Mobile Client (Flutter)</a:t>
            </a:r>
          </a:p>
          <a:p>
            <a:pPr>
              <a:defRPr sz="1200">
                <a:solidFill>
                  <a:srgbClr val="F8FAFC"/>
                </a:solidFill>
              </a:defRPr>
            </a:pPr>
            <a:r>
              <a:t>• Offline-first với SQLite/Hive cache.</a:t>
            </a:r>
            <a:br/>
            <a:r>
              <a:t>• UI động kèm Growing Avatar tiến hóa theo volume/streak.</a:t>
            </a:r>
            <a:br/>
            <a:r>
              <a:t>• Haptic &amp; Beep cảnh báo sai form tức thì.</a:t>
            </a:r>
          </a:p>
        </p:txBody>
      </p:sp>
      <p:sp>
        <p:nvSpPr>
          <p:cNvPr id="4" name="Rectangle 3"/>
          <p:cNvSpPr/>
          <p:nvPr/>
        </p:nvSpPr>
        <p:spPr>
          <a:xfrm>
            <a:off x="3474720" y="2011680"/>
            <a:ext cx="2468880" cy="4114800"/>
          </a:xfrm>
          <a:prstGeom prst="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defRPr>
            </a:pPr>
            <a:r>
              <a:t>2. On-Device Vision (MediaPipe)</a:t>
            </a:r>
          </a:p>
          <a:p>
            <a:pPr>
              <a:defRPr sz="1200">
                <a:solidFill>
                  <a:srgbClr val="F8FAFC"/>
                </a:solidFill>
              </a:defRPr>
            </a:pPr>
            <a:r>
              <a:t>• Xử lý khung hình 100% trên RAM thiết bị.</a:t>
            </a:r>
            <a:br/>
            <a:r>
              <a:t>• Trích xuất 33 keypoints đếm reps &amp; tính góc ROM.</a:t>
            </a:r>
            <a:br/>
            <a:r>
              <a:t>• Zero Video Retention: Không upload video lên server.</a:t>
            </a:r>
          </a:p>
        </p:txBody>
      </p:sp>
      <p:sp>
        <p:nvSpPr>
          <p:cNvPr id="5" name="Rectangle 4"/>
          <p:cNvSpPr/>
          <p:nvPr/>
        </p:nvSpPr>
        <p:spPr>
          <a:xfrm>
            <a:off x="6217920" y="2011680"/>
            <a:ext cx="2468880" cy="4114800"/>
          </a:xfrm>
          <a:prstGeom prst="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defRPr>
            </a:pPr>
            <a:r>
              <a:t>3. Backend Core (FastAPI)</a:t>
            </a:r>
          </a:p>
          <a:p>
            <a:pPr>
              <a:defRPr sz="1200">
                <a:solidFill>
                  <a:srgbClr val="F8FAFC"/>
                </a:solidFill>
              </a:defRPr>
            </a:pPr>
            <a:r>
              <a:t>• API Gateway kiểm soát HTTPS + JWT.</a:t>
            </a:r>
            <a:br/>
            <a:r>
              <a:t>• Safety Router: Ngắt offline khi báo đau.</a:t>
            </a:r>
            <a:br/>
            <a:r>
              <a:t>• Rules Engine tính volume; Pseudonymizer lọc sạch PII.</a:t>
            </a:r>
          </a:p>
        </p:txBody>
      </p:sp>
      <p:sp>
        <p:nvSpPr>
          <p:cNvPr id="6" name="Rectangle 5"/>
          <p:cNvSpPr/>
          <p:nvPr/>
        </p:nvSpPr>
        <p:spPr>
          <a:xfrm>
            <a:off x="8961120" y="2011680"/>
            <a:ext cx="2468880" cy="4114800"/>
          </a:xfrm>
          <a:prstGeom prst="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defRPr>
            </a:pPr>
            <a:r>
              <a:t>4. Free Cloud Services</a:t>
            </a:r>
          </a:p>
          <a:p>
            <a:pPr>
              <a:defRPr sz="1200">
                <a:solidFill>
                  <a:srgbClr val="F8FAFC"/>
                </a:solidFill>
              </a:defRPr>
            </a:pPr>
            <a:r>
              <a:t>• Google Gemini 3.8 Flash (Free Tier) sinh JSON kế hoạch.</a:t>
            </a:r>
            <a:br/>
            <a:r>
              <a:t>• Supabase (PostgreSQL): 500MB, Auth tích hợp, Row-Level Security.</a:t>
            </a:r>
            <a:br/>
            <a:r>
              <a:t>• Push Notifications (FCM): Nhắc lịch tập chung.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698480" cy="1188720"/>
          </a:xfrm>
          <a:prstGeom prst="rect">
            <a:avLst/>
          </a:prstGeom>
          <a:noFill/>
        </p:spPr>
        <p:txBody>
          <a:bodyPr wrap="square">
            <a:spAutoFit/>
          </a:bodyPr>
          <a:lstStyle/>
          <a:p>
            <a:pPr>
              <a:defRPr sz="2800" b="1">
                <a:solidFill>
                  <a:srgbClr val="0EA5E9"/>
                </a:solidFill>
              </a:defRPr>
            </a:pPr>
            <a:r>
              <a:t>HAI LUỒNG DỮ LIỆU &amp; CƠ CHẾ AN TOÀN</a:t>
            </a:r>
          </a:p>
          <a:p>
            <a:pPr>
              <a:defRPr sz="1600">
                <a:solidFill>
                  <a:srgbClr val="94A3B8"/>
                </a:solidFill>
              </a:defRPr>
            </a:pPr>
            <a:r>
              <a:t>Tập camera On-Demand, Hỏi Coach ẩn danh &amp; Router xử lý chấn thương/lỗi API</a:t>
            </a:r>
          </a:p>
        </p:txBody>
      </p:sp>
      <p:sp>
        <p:nvSpPr>
          <p:cNvPr id="3" name="Rectangle 2"/>
          <p:cNvSpPr/>
          <p:nvPr/>
        </p:nvSpPr>
        <p:spPr>
          <a:xfrm>
            <a:off x="731520" y="2011680"/>
            <a:ext cx="5120640" cy="4114800"/>
          </a:xfrm>
          <a:prstGeom prst="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EA5E9"/>
                </a:solidFill>
              </a:defRPr>
            </a:pPr>
            <a:r>
              <a:t>Luồng 1: Tập Với Camera (On-Demand)</a:t>
            </a:r>
          </a:p>
          <a:p>
            <a:pPr>
              <a:defRPr sz="1300">
                <a:solidFill>
                  <a:srgbClr val="F8FAFC"/>
                </a:solidFill>
              </a:defRPr>
            </a:pPr>
            <a:r>
              <a:t>• Không ép bật camera: Chỉ kích hoạt khi muốn kiểm tra form động tác mới («extend» trong Use Case).</a:t>
            </a:r>
            <a:br/>
            <a:r>
              <a:t>• MediaPipe trên RAM trích xuất 33 điểm khớp -&gt; Tính góc ROM -&gt; Phát Beep/Rung sửa tư thế.</a:t>
            </a:r>
            <a:br/>
            <a:r>
              <a:t>• Kết thúc buổi: Chỉ gửi số reps, phút tập và đánh giá RPE (Dễ/Vừa/Mệt). Tuyệt đối không gửi ảnh/video.</a:t>
            </a:r>
            <a:br/>
            <a:r>
              <a:t>• Nút 'Tôi bị đau': Dừng buổi tập ngay lập tức trên máy (offline) và khuyên đi khám bác sĩ.</a:t>
            </a:r>
          </a:p>
        </p:txBody>
      </p:sp>
      <p:sp>
        <p:nvSpPr>
          <p:cNvPr id="4" name="Rectangle 3"/>
          <p:cNvSpPr/>
          <p:nvPr/>
        </p:nvSpPr>
        <p:spPr>
          <a:xfrm>
            <a:off x="6309360" y="2011680"/>
            <a:ext cx="5120640" cy="4114800"/>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2C55E"/>
                </a:solidFill>
              </a:defRPr>
            </a:pPr>
            <a:r>
              <a:t>Luồng 2: Hỏi Coach &amp; Router An Toàn / Fallback</a:t>
            </a:r>
          </a:p>
          <a:p>
            <a:pPr>
              <a:defRPr sz="1300">
                <a:solidFill>
                  <a:srgbClr val="F8FAFC"/>
                </a:solidFill>
              </a:defRPr>
            </a:pPr>
            <a:r>
              <a:t>• The LLM Boundary (Ẩn danh hóa): Chuyển tuổi -&gt; age_band, cân nặng -&gt; bmi_band, bệnh lý -&gt; thẻ tránh (avoid_tags). Không gửi tên, email hay chẩn đoán thật.</a:t>
            </a:r>
            <a:br/>
            <a:r>
              <a:t>• Safety Router: Bắt từ khóa chấn thương -&gt; Trả về kịch bản an toàn chuẩn y khoa.</a:t>
            </a:r>
            <a:br/>
            <a:r>
              <a:t>• Fallback khi Gemini 429/Offline:</a:t>
            </a:r>
            <a:br/>
            <a:r>
              <a:t>  - Cache cục bộ kế hoạch tuần trong máy (SQLite).</a:t>
            </a:r>
            <a:br/>
            <a:r>
              <a:t>  - Tự động chuyển sang kho câu trả lời soạn sẵn (Curated Knowledge) khi mất mạng/quá tải.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548640"/>
            <a:ext cx="10698480" cy="1188720"/>
          </a:xfrm>
          <a:prstGeom prst="rect">
            <a:avLst/>
          </a:prstGeom>
          <a:noFill/>
        </p:spPr>
        <p:txBody>
          <a:bodyPr wrap="square">
            <a:spAutoFit/>
          </a:bodyPr>
          <a:lstStyle/>
          <a:p>
            <a:pPr>
              <a:defRPr sz="2800" b="1">
                <a:solidFill>
                  <a:srgbClr val="0EA5E9"/>
                </a:solidFill>
              </a:defRPr>
            </a:pPr>
            <a:r>
              <a:t>LỰA CHỌN CÔNG NGHỆ &amp; TÍNH KHẢ THI 0 ĐỒNG</a:t>
            </a:r>
          </a:p>
          <a:p>
            <a:pPr>
              <a:defRPr sz="1600">
                <a:solidFill>
                  <a:srgbClr val="94A3B8"/>
                </a:solidFill>
              </a:defRPr>
            </a:pPr>
            <a:r>
              <a:t>Minh chứng kiến trúc khả thi, đáp ứng tiêu chí hoàn thiện và sáng tạo của đồ án</a:t>
            </a:r>
          </a:p>
        </p:txBody>
      </p:sp>
      <p:graphicFrame>
        <p:nvGraphicFramePr>
          <p:cNvPr id="3" name="Table 2"/>
          <p:cNvGraphicFramePr>
            <a:graphicFrameLocks noGrp="1"/>
          </p:cNvGraphicFramePr>
          <p:nvPr/>
        </p:nvGraphicFramePr>
        <p:xfrm>
          <a:off x="731520" y="2011680"/>
          <a:ext cx="10698480" cy="4114800"/>
        </p:xfrm>
        <a:graphic>
          <a:graphicData uri="http://schemas.openxmlformats.org/drawingml/2006/table">
            <a:tbl>
              <a:tblPr firstRow="1" bandRow="1">
                <a:tableStyleId>{5C22544A-7EE6-4342-B048-85BDC9FD1C3A}</a:tableStyleId>
              </a:tblPr>
              <a:tblGrid>
                <a:gridCol w="2011680"/>
                <a:gridCol w="2560320"/>
                <a:gridCol w="3931920"/>
                <a:gridCol w="2194560"/>
              </a:tblGrid>
              <a:tr h="685800">
                <a:tc>
                  <a:txBody>
                    <a:bodyPr/>
                    <a:lstStyle/>
                    <a:p>
                      <a:pPr>
                        <a:defRPr b="1" sz="1300">
                          <a:solidFill>
                            <a:srgbClr val="0EA5E9"/>
                          </a:solidFill>
                        </a:defRPr>
                      </a:pPr>
                      <a:r>
                        <a:t>Thành phần</a:t>
                      </a:r>
                    </a:p>
                  </a:txBody>
                  <a:tcPr>
                    <a:solidFill>
                      <a:srgbClr val="1E293B"/>
                    </a:solidFill>
                  </a:tcPr>
                </a:tc>
                <a:tc>
                  <a:txBody>
                    <a:bodyPr/>
                    <a:lstStyle/>
                    <a:p>
                      <a:pPr>
                        <a:defRPr b="1" sz="1300">
                          <a:solidFill>
                            <a:srgbClr val="0EA5E9"/>
                          </a:solidFill>
                        </a:defRPr>
                      </a:pPr>
                      <a:r>
                        <a:t>Công nghệ chọn</a:t>
                      </a:r>
                    </a:p>
                  </a:txBody>
                  <a:tcPr>
                    <a:solidFill>
                      <a:srgbClr val="1E293B"/>
                    </a:solidFill>
                  </a:tcPr>
                </a:tc>
                <a:tc>
                  <a:txBody>
                    <a:bodyPr/>
                    <a:lstStyle/>
                    <a:p>
                      <a:pPr>
                        <a:defRPr b="1" sz="1300">
                          <a:solidFill>
                            <a:srgbClr val="0EA5E9"/>
                          </a:solidFill>
                        </a:defRPr>
                      </a:pPr>
                      <a:r>
                        <a:t>Lý do &amp; Lợi ích</a:t>
                      </a:r>
                    </a:p>
                  </a:txBody>
                  <a:tcPr>
                    <a:solidFill>
                      <a:srgbClr val="1E293B"/>
                    </a:solidFill>
                  </a:tcPr>
                </a:tc>
                <a:tc>
                  <a:txBody>
                    <a:bodyPr/>
                    <a:lstStyle/>
                    <a:p>
                      <a:pPr>
                        <a:defRPr b="1" sz="1300">
                          <a:solidFill>
                            <a:srgbClr val="0EA5E9"/>
                          </a:solidFill>
                        </a:defRPr>
                      </a:pPr>
                      <a:r>
                        <a:t>Chi phí</a:t>
                      </a:r>
                    </a:p>
                  </a:txBody>
                  <a:tcPr>
                    <a:solidFill>
                      <a:srgbClr val="1E293B"/>
                    </a:solidFill>
                  </a:tcPr>
                </a:tc>
              </a:tr>
              <a:tr h="685800">
                <a:tc>
                  <a:txBody>
                    <a:bodyPr/>
                    <a:lstStyle/>
                    <a:p>
                      <a:pPr>
                        <a:defRPr sz="1200">
                          <a:solidFill>
                            <a:srgbClr val="F8FAFC"/>
                          </a:solidFill>
                        </a:defRPr>
                      </a:pPr>
                      <a:r>
                        <a:t>Mobile Client</a:t>
                      </a:r>
                    </a:p>
                  </a:txBody>
                  <a:tcPr>
                    <a:solidFill>
                      <a:srgbClr val="1E293B"/>
                    </a:solidFill>
                  </a:tcPr>
                </a:tc>
                <a:tc>
                  <a:txBody>
                    <a:bodyPr/>
                    <a:lstStyle/>
                    <a:p>
                      <a:pPr>
                        <a:defRPr sz="1200">
                          <a:solidFill>
                            <a:srgbClr val="F8FAFC"/>
                          </a:solidFill>
                        </a:defRPr>
                      </a:pPr>
                      <a:r>
                        <a:t>Flutter (Dart)</a:t>
                      </a:r>
                    </a:p>
                  </a:txBody>
                  <a:tcPr>
                    <a:solidFill>
                      <a:srgbClr val="1E293B"/>
                    </a:solidFill>
                  </a:tcPr>
                </a:tc>
                <a:tc>
                  <a:txBody>
                    <a:bodyPr/>
                    <a:lstStyle/>
                    <a:p>
                      <a:pPr>
                        <a:defRPr sz="1200">
                          <a:solidFill>
                            <a:srgbClr val="F8FAFC"/>
                          </a:solidFill>
                        </a:defRPr>
                      </a:pPr>
                      <a:r>
                        <a:t>1 codebase iOS/Android, camera native mượt, offline SQLite/Hive</a:t>
                      </a:r>
                    </a:p>
                  </a:txBody>
                  <a:tcPr>
                    <a:solidFill>
                      <a:srgbClr val="1E293B"/>
                    </a:solidFill>
                  </a:tcPr>
                </a:tc>
                <a:tc>
                  <a:txBody>
                    <a:bodyPr/>
                    <a:lstStyle/>
                    <a:p>
                      <a:pPr>
                        <a:defRPr sz="1200" b="1">
                          <a:solidFill>
                            <a:srgbClr val="22C55E"/>
                          </a:solidFill>
                        </a:defRPr>
                      </a:pPr>
                      <a:r>
                        <a:t>0đ (Open source)</a:t>
                      </a:r>
                    </a:p>
                  </a:txBody>
                  <a:tcPr>
                    <a:solidFill>
                      <a:srgbClr val="1E293B"/>
                    </a:solidFill>
                  </a:tcPr>
                </a:tc>
              </a:tr>
              <a:tr h="685800">
                <a:tc>
                  <a:txBody>
                    <a:bodyPr/>
                    <a:lstStyle/>
                    <a:p>
                      <a:pPr>
                        <a:defRPr sz="1200">
                          <a:solidFill>
                            <a:srgbClr val="F8FAFC"/>
                          </a:solidFill>
                        </a:defRPr>
                      </a:pPr>
                      <a:r>
                        <a:t>Pose Tracking</a:t>
                      </a:r>
                    </a:p>
                  </a:txBody>
                  <a:tcPr>
                    <a:solidFill>
                      <a:srgbClr val="1E293B"/>
                    </a:solidFill>
                  </a:tcPr>
                </a:tc>
                <a:tc>
                  <a:txBody>
                    <a:bodyPr/>
                    <a:lstStyle/>
                    <a:p>
                      <a:pPr>
                        <a:defRPr sz="1200">
                          <a:solidFill>
                            <a:srgbClr val="F8FAFC"/>
                          </a:solidFill>
                        </a:defRPr>
                      </a:pPr>
                      <a:r>
                        <a:t>MediaPipe Pose (Google)</a:t>
                      </a:r>
                    </a:p>
                  </a:txBody>
                  <a:tcPr>
                    <a:solidFill>
                      <a:srgbClr val="1E293B"/>
                    </a:solidFill>
                  </a:tcPr>
                </a:tc>
                <a:tc>
                  <a:txBody>
                    <a:bodyPr/>
                    <a:lstStyle/>
                    <a:p>
                      <a:pPr>
                        <a:defRPr sz="1200">
                          <a:solidFill>
                            <a:srgbClr val="F8FAFC"/>
                          </a:solidFill>
                        </a:defRPr>
                      </a:pPr>
                      <a:r>
                        <a:t>Chạy 100% on-device trên RAM, 33 keypoints, zero video retention</a:t>
                      </a:r>
                    </a:p>
                  </a:txBody>
                  <a:tcPr>
                    <a:solidFill>
                      <a:srgbClr val="1E293B"/>
                    </a:solidFill>
                  </a:tcPr>
                </a:tc>
                <a:tc>
                  <a:txBody>
                    <a:bodyPr/>
                    <a:lstStyle/>
                    <a:p>
                      <a:pPr>
                        <a:defRPr sz="1200" b="1">
                          <a:solidFill>
                            <a:srgbClr val="22C55E"/>
                          </a:solidFill>
                        </a:defRPr>
                      </a:pPr>
                      <a:r>
                        <a:t>0đ (On-device)</a:t>
                      </a:r>
                    </a:p>
                  </a:txBody>
                  <a:tcPr>
                    <a:solidFill>
                      <a:srgbClr val="1E293B"/>
                    </a:solidFill>
                  </a:tcPr>
                </a:tc>
              </a:tr>
              <a:tr h="685800">
                <a:tc>
                  <a:txBody>
                    <a:bodyPr/>
                    <a:lstStyle/>
                    <a:p>
                      <a:pPr>
                        <a:defRPr sz="1200">
                          <a:solidFill>
                            <a:srgbClr val="F8FAFC"/>
                          </a:solidFill>
                        </a:defRPr>
                      </a:pPr>
                      <a:r>
                        <a:t>Backend API</a:t>
                      </a:r>
                    </a:p>
                  </a:txBody>
                  <a:tcPr>
                    <a:solidFill>
                      <a:srgbClr val="1E293B"/>
                    </a:solidFill>
                  </a:tcPr>
                </a:tc>
                <a:tc>
                  <a:txBody>
                    <a:bodyPr/>
                    <a:lstStyle/>
                    <a:p>
                      <a:pPr>
                        <a:defRPr sz="1200">
                          <a:solidFill>
                            <a:srgbClr val="F8FAFC"/>
                          </a:solidFill>
                        </a:defRPr>
                      </a:pPr>
                      <a:r>
                        <a:t>FastAPI (Python)</a:t>
                      </a:r>
                    </a:p>
                  </a:txBody>
                  <a:tcPr>
                    <a:solidFill>
                      <a:srgbClr val="1E293B"/>
                    </a:solidFill>
                  </a:tcPr>
                </a:tc>
                <a:tc>
                  <a:txBody>
                    <a:bodyPr/>
                    <a:lstStyle/>
                    <a:p>
                      <a:pPr>
                        <a:defRPr sz="1200">
                          <a:solidFill>
                            <a:srgbClr val="F8FAFC"/>
                          </a:solidFill>
                        </a:defRPr>
                      </a:pPr>
                      <a:r>
                        <a:t>Nhẹ, async, tích hợp trực tiếp SDK Gemini &amp; Pydantic validation</a:t>
                      </a:r>
                    </a:p>
                  </a:txBody>
                  <a:tcPr>
                    <a:solidFill>
                      <a:srgbClr val="1E293B"/>
                    </a:solidFill>
                  </a:tcPr>
                </a:tc>
                <a:tc>
                  <a:txBody>
                    <a:bodyPr/>
                    <a:lstStyle/>
                    <a:p>
                      <a:pPr>
                        <a:defRPr sz="1200" b="1">
                          <a:solidFill>
                            <a:srgbClr val="22C55E"/>
                          </a:solidFill>
                        </a:defRPr>
                      </a:pPr>
                      <a:r>
                        <a:t>0đ (Local/Render free)</a:t>
                      </a:r>
                    </a:p>
                  </a:txBody>
                  <a:tcPr>
                    <a:solidFill>
                      <a:srgbClr val="1E293B"/>
                    </a:solidFill>
                  </a:tcPr>
                </a:tc>
              </a:tr>
              <a:tr h="685800">
                <a:tc>
                  <a:txBody>
                    <a:bodyPr/>
                    <a:lstStyle/>
                    <a:p>
                      <a:pPr>
                        <a:defRPr sz="1200">
                          <a:solidFill>
                            <a:srgbClr val="F8FAFC"/>
                          </a:solidFill>
                        </a:defRPr>
                      </a:pPr>
                      <a:r>
                        <a:t>Cơ sở dữ liệu</a:t>
                      </a:r>
                    </a:p>
                  </a:txBody>
                  <a:tcPr>
                    <a:solidFill>
                      <a:srgbClr val="1E293B"/>
                    </a:solidFill>
                  </a:tcPr>
                </a:tc>
                <a:tc>
                  <a:txBody>
                    <a:bodyPr/>
                    <a:lstStyle/>
                    <a:p>
                      <a:pPr>
                        <a:defRPr sz="1200">
                          <a:solidFill>
                            <a:srgbClr val="F8FAFC"/>
                          </a:solidFill>
                        </a:defRPr>
                      </a:pPr>
                      <a:r>
                        <a:t>Supabase (PostgreSQL)</a:t>
                      </a:r>
                    </a:p>
                  </a:txBody>
                  <a:tcPr>
                    <a:solidFill>
                      <a:srgbClr val="1E293B"/>
                    </a:solidFill>
                  </a:tcPr>
                </a:tc>
                <a:tc>
                  <a:txBody>
                    <a:bodyPr/>
                    <a:lstStyle/>
                    <a:p>
                      <a:pPr>
                        <a:defRPr sz="1200">
                          <a:solidFill>
                            <a:srgbClr val="F8FAFC"/>
                          </a:solidFill>
                        </a:defRPr>
                      </a:pPr>
                      <a:r>
                        <a:t>Free tier: 500MB (~1.000 user-năm), 50k MAU, tích hợp sẵn Auth &amp; RLS</a:t>
                      </a:r>
                    </a:p>
                  </a:txBody>
                  <a:tcPr>
                    <a:solidFill>
                      <a:srgbClr val="1E293B"/>
                    </a:solidFill>
                  </a:tcPr>
                </a:tc>
                <a:tc>
                  <a:txBody>
                    <a:bodyPr/>
                    <a:lstStyle/>
                    <a:p>
                      <a:pPr>
                        <a:defRPr sz="1200" b="1">
                          <a:solidFill>
                            <a:srgbClr val="22C55E"/>
                          </a:solidFill>
                        </a:defRPr>
                      </a:pPr>
                      <a:r>
                        <a:t>0đ (Free tier)</a:t>
                      </a:r>
                    </a:p>
                  </a:txBody>
                  <a:tcPr>
                    <a:solidFill>
                      <a:srgbClr val="1E293B"/>
                    </a:solidFill>
                  </a:tcPr>
                </a:tc>
              </a:tr>
              <a:tr h="685800">
                <a:tc>
                  <a:txBody>
                    <a:bodyPr/>
                    <a:lstStyle/>
                    <a:p>
                      <a:pPr>
                        <a:defRPr sz="1200">
                          <a:solidFill>
                            <a:srgbClr val="F8FAFC"/>
                          </a:solidFill>
                        </a:defRPr>
                      </a:pPr>
                      <a:r>
                        <a:t>AI Coach (LLM)</a:t>
                      </a:r>
                    </a:p>
                  </a:txBody>
                  <a:tcPr>
                    <a:solidFill>
                      <a:srgbClr val="1E293B"/>
                    </a:solidFill>
                  </a:tcPr>
                </a:tc>
                <a:tc>
                  <a:txBody>
                    <a:bodyPr/>
                    <a:lstStyle/>
                    <a:p>
                      <a:pPr>
                        <a:defRPr sz="1200">
                          <a:solidFill>
                            <a:srgbClr val="F8FAFC"/>
                          </a:solidFill>
                        </a:defRPr>
                      </a:pPr>
                      <a:r>
                        <a:t>Gemini 3.8 Flash</a:t>
                      </a:r>
                    </a:p>
                  </a:txBody>
                  <a:tcPr>
                    <a:solidFill>
                      <a:srgbClr val="1E293B"/>
                    </a:solidFill>
                  </a:tcPr>
                </a:tc>
                <a:tc>
                  <a:txBody>
                    <a:bodyPr/>
                    <a:lstStyle/>
                    <a:p>
                      <a:pPr>
                        <a:defRPr sz="1200">
                          <a:solidFill>
                            <a:srgbClr val="F8FAFC"/>
                          </a:solidFill>
                        </a:defRPr>
                      </a:pPr>
                      <a:r>
                        <a:t>Tốc độ phản hồi cao, structured JSON output, đã verify qua PoC</a:t>
                      </a:r>
                    </a:p>
                  </a:txBody>
                  <a:tcPr>
                    <a:solidFill>
                      <a:srgbClr val="1E293B"/>
                    </a:solidFill>
                  </a:tcPr>
                </a:tc>
                <a:tc>
                  <a:txBody>
                    <a:bodyPr/>
                    <a:lstStyle/>
                    <a:p>
                      <a:pPr>
                        <a:defRPr sz="1200" b="1">
                          <a:solidFill>
                            <a:srgbClr val="22C55E"/>
                          </a:solidFill>
                        </a:defRPr>
                      </a:pPr>
                      <a:r>
                        <a:t>0đ (AI Studio)</a:t>
                      </a:r>
                    </a:p>
                  </a:txBody>
                  <a:tcPr>
                    <a:solidFill>
                      <a:srgbClr val="1E293B"/>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